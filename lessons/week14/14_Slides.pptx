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9" r:id="rId4"/>
    <p:sldId id="260" r:id="rId5"/>
    <p:sldId id="257"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78480"/>
  </p:normalViewPr>
  <p:slideViewPr>
    <p:cSldViewPr snapToGrid="0">
      <p:cViewPr varScale="1">
        <p:scale>
          <a:sx n="83" d="100"/>
          <a:sy n="83" d="100"/>
        </p:scale>
        <p:origin x="16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C2051-C3F6-DE47-A705-A401FF2D8E60}" type="datetimeFigureOut">
              <a:rPr lang="en-US" smtClean="0"/>
              <a:t>11/25/25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6C885E-55C1-404B-AD85-B37390A0AC67}" type="slidenum">
              <a:rPr lang="en-US" smtClean="0"/>
              <a:t>‹#›</a:t>
            </a:fld>
            <a:endParaRPr lang="en-US"/>
          </a:p>
        </p:txBody>
      </p:sp>
    </p:spTree>
    <p:extLst>
      <p:ext uri="{BB962C8B-B14F-4D97-AF65-F5344CB8AC3E}">
        <p14:creationId xmlns:p14="http://schemas.microsoft.com/office/powerpoint/2010/main" val="53773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thought you only ran one test, but actually you ran 20 mental tests and reported the one that worked.”</a:t>
            </a:r>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2</a:t>
            </a:fld>
            <a:endParaRPr lang="en-US"/>
          </a:p>
        </p:txBody>
      </p:sp>
    </p:spTree>
    <p:extLst>
      <p:ext uri="{BB962C8B-B14F-4D97-AF65-F5344CB8AC3E}">
        <p14:creationId xmlns:p14="http://schemas.microsoft.com/office/powerpoint/2010/main" val="2947807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Science isn’t preprogrammed. You inevitably:</a:t>
            </a:r>
          </a:p>
          <a:p>
            <a:pPr>
              <a:buFont typeface="Arial" panose="020B0604020202020204" pitchFamily="34" charset="0"/>
              <a:buChar char="•"/>
            </a:pPr>
            <a:r>
              <a:rPr lang="en-US" dirty="0"/>
              <a:t>Look at distributions</a:t>
            </a:r>
          </a:p>
          <a:p>
            <a:pPr>
              <a:buFont typeface="Arial" panose="020B0604020202020204" pitchFamily="34" charset="0"/>
              <a:buChar char="•"/>
            </a:pPr>
            <a:r>
              <a:rPr lang="en-US" dirty="0"/>
              <a:t>Notice skew</a:t>
            </a:r>
          </a:p>
          <a:p>
            <a:pPr>
              <a:buFont typeface="Arial" panose="020B0604020202020204" pitchFamily="34" charset="0"/>
              <a:buChar char="•"/>
            </a:pPr>
            <a:r>
              <a:rPr lang="en-US" dirty="0"/>
              <a:t>Check residuals</a:t>
            </a:r>
          </a:p>
          <a:p>
            <a:pPr>
              <a:buFont typeface="Arial" panose="020B0604020202020204" pitchFamily="34" charset="0"/>
              <a:buChar char="•"/>
            </a:pPr>
            <a:r>
              <a:rPr lang="en-US" dirty="0"/>
              <a:t>See heteroscedasticity</a:t>
            </a:r>
          </a:p>
          <a:p>
            <a:pPr>
              <a:buFont typeface="Arial" panose="020B0604020202020204" pitchFamily="34" charset="0"/>
              <a:buChar char="•"/>
            </a:pPr>
            <a:r>
              <a:rPr lang="en-US" dirty="0"/>
              <a:t>Inspect diagnostic plots</a:t>
            </a:r>
          </a:p>
          <a:p>
            <a:pPr>
              <a:buFont typeface="Arial" panose="020B0604020202020204" pitchFamily="34" charset="0"/>
              <a:buChar char="•"/>
            </a:pPr>
            <a:r>
              <a:rPr lang="en-US" dirty="0"/>
              <a:t>Realize a predictor must be centered to interpret interactions</a:t>
            </a:r>
          </a:p>
          <a:p>
            <a:pPr>
              <a:buFont typeface="Arial" panose="020B0604020202020204" pitchFamily="34" charset="0"/>
              <a:buChar char="•"/>
            </a:pPr>
            <a:r>
              <a:rPr lang="en-US" dirty="0"/>
              <a:t>Notice clear nonlinearity and consider polynomial terms</a:t>
            </a:r>
          </a:p>
          <a:p>
            <a:r>
              <a:rPr lang="en-US" dirty="0"/>
              <a:t>These are </a:t>
            </a:r>
            <a:r>
              <a:rPr lang="en-US" b="1" dirty="0"/>
              <a:t>model diagnostics</a:t>
            </a:r>
            <a:r>
              <a:rPr lang="en-US" dirty="0"/>
              <a:t>, not p-hacking.</a:t>
            </a:r>
          </a:p>
          <a:p>
            <a:r>
              <a:rPr lang="en-US" dirty="0"/>
              <a:t>If you log-transform data because residuals are clearly non-normal or variances clearly explode, that’s good modeling practice.</a:t>
            </a:r>
          </a:p>
          <a:p>
            <a:r>
              <a:rPr lang="en-US" dirty="0"/>
              <a:t>If you notice sex clearly affects a relationship during </a:t>
            </a:r>
            <a:r>
              <a:rPr lang="en-US" i="1" dirty="0"/>
              <a:t>model checking</a:t>
            </a:r>
            <a:r>
              <a:rPr lang="en-US" dirty="0"/>
              <a:t>, adding an interaction is also reasonable — </a:t>
            </a:r>
            <a:r>
              <a:rPr lang="en-US" b="1" dirty="0"/>
              <a:t>if you frame it as exploratory</a:t>
            </a:r>
            <a:r>
              <a:rPr lang="en-US" dirty="0"/>
              <a:t>, not confirmatory.</a:t>
            </a:r>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3</a:t>
            </a:fld>
            <a:endParaRPr lang="en-US"/>
          </a:p>
        </p:txBody>
      </p:sp>
    </p:spTree>
    <p:extLst>
      <p:ext uri="{BB962C8B-B14F-4D97-AF65-F5344CB8AC3E}">
        <p14:creationId xmlns:p14="http://schemas.microsoft.com/office/powerpoint/2010/main" val="336137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Penalizes complexity </a:t>
            </a:r>
          </a:p>
        </p:txBody>
      </p:sp>
      <p:sp>
        <p:nvSpPr>
          <p:cNvPr id="4" name="Slide Number Placeholder 3"/>
          <p:cNvSpPr>
            <a:spLocks noGrp="1"/>
          </p:cNvSpPr>
          <p:nvPr>
            <p:ph type="sldNum" sz="quarter" idx="5"/>
          </p:nvPr>
        </p:nvSpPr>
        <p:spPr/>
        <p:txBody>
          <a:bodyPr/>
          <a:lstStyle/>
          <a:p>
            <a:fld id="{856C885E-55C1-404B-AD85-B37390A0AC67}" type="slidenum">
              <a:rPr lang="en-US" smtClean="0"/>
              <a:t>5</a:t>
            </a:fld>
            <a:endParaRPr lang="en-US"/>
          </a:p>
        </p:txBody>
      </p:sp>
    </p:spTree>
    <p:extLst>
      <p:ext uri="{BB962C8B-B14F-4D97-AF65-F5344CB8AC3E}">
        <p14:creationId xmlns:p14="http://schemas.microsoft.com/office/powerpoint/2010/main" val="356964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Transition:</a:t>
            </a:r>
            <a:br>
              <a:rPr lang="en-US" dirty="0"/>
            </a:br>
            <a:r>
              <a:rPr lang="en-US" dirty="0"/>
              <a:t>“When theory doesn’t fully specify a model, we move to model selection tools.”</a:t>
            </a:r>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6</a:t>
            </a:fld>
            <a:endParaRPr lang="en-US"/>
          </a:p>
        </p:txBody>
      </p:sp>
    </p:spTree>
    <p:extLst>
      <p:ext uri="{BB962C8B-B14F-4D97-AF65-F5344CB8AC3E}">
        <p14:creationId xmlns:p14="http://schemas.microsoft.com/office/powerpoint/2010/main" val="1356998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greedy algorithm</a:t>
            </a:r>
            <a:r>
              <a:rPr lang="en-US" dirty="0"/>
              <a:t> means stepwise selection makes the </a:t>
            </a:r>
            <a:r>
              <a:rPr lang="en-US" i="1" dirty="0"/>
              <a:t>locally best</a:t>
            </a:r>
            <a:r>
              <a:rPr lang="en-US" dirty="0"/>
              <a:t> choice at each step (add/remove the single predictor that improves AIC or p-value the most) without considering whether that choice leads to the </a:t>
            </a:r>
            <a:r>
              <a:rPr lang="en-US" i="1" dirty="0"/>
              <a:t>best overall model</a:t>
            </a:r>
            <a:r>
              <a:rPr lang="en-US" dirty="0"/>
              <a:t>. It never looks ahead or considers combinations of variables—just grabs whatever helps next.</a:t>
            </a:r>
          </a:p>
          <a:p>
            <a:endParaRPr lang="en-US" dirty="0"/>
          </a:p>
          <a:p>
            <a:r>
              <a:rPr lang="en-US" b="1" dirty="0"/>
              <a:t>Overly optimistic p-values</a:t>
            </a:r>
            <a:r>
              <a:rPr lang="en-US" dirty="0"/>
              <a:t> happen because stepwise tries many models behind the scenes, but the final reported p-values don’t account for all that searching. Since you effectively ran lots of hidden tests, the final p-values look more significant than they really are.</a:t>
            </a:r>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7</a:t>
            </a:fld>
            <a:endParaRPr lang="en-US"/>
          </a:p>
        </p:txBody>
      </p:sp>
    </p:spTree>
    <p:extLst>
      <p:ext uri="{BB962C8B-B14F-4D97-AF65-F5344CB8AC3E}">
        <p14:creationId xmlns:p14="http://schemas.microsoft.com/office/powerpoint/2010/main" val="2164659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dredge gives no guarantee that the variables it selects are </a:t>
            </a:r>
            <a:r>
              <a:rPr lang="en-US" b="1" dirty="0"/>
              <a:t>causal! </a:t>
            </a:r>
            <a:r>
              <a:rPr lang="en-US" dirty="0"/>
              <a:t>it only picks whatever combination best fits the data statistically.</a:t>
            </a:r>
          </a:p>
          <a:p>
            <a:r>
              <a:rPr lang="en-US" dirty="0"/>
              <a:t>Because:</a:t>
            </a:r>
          </a:p>
          <a:p>
            <a:pPr>
              <a:buFont typeface="Arial" panose="020B0604020202020204" pitchFamily="34" charset="0"/>
              <a:buChar char="•"/>
            </a:pPr>
            <a:r>
              <a:rPr lang="en-US" dirty="0"/>
              <a:t>it doesn’t use biological theory</a:t>
            </a:r>
          </a:p>
          <a:p>
            <a:pPr>
              <a:buFont typeface="Arial" panose="020B0604020202020204" pitchFamily="34" charset="0"/>
              <a:buChar char="•"/>
            </a:pPr>
            <a:r>
              <a:rPr lang="en-US" dirty="0"/>
              <a:t>it doesn’t use DAGs</a:t>
            </a:r>
          </a:p>
          <a:p>
            <a:pPr>
              <a:buFont typeface="Arial" panose="020B0604020202020204" pitchFamily="34" charset="0"/>
              <a:buChar char="•"/>
            </a:pPr>
            <a:r>
              <a:rPr lang="en-US" dirty="0"/>
              <a:t>it doesn’t control for confounding</a:t>
            </a:r>
          </a:p>
          <a:p>
            <a:pPr>
              <a:buFont typeface="Arial" panose="020B0604020202020204" pitchFamily="34" charset="0"/>
              <a:buChar char="•"/>
            </a:pPr>
            <a:r>
              <a:rPr lang="en-US" dirty="0"/>
              <a:t>it may drop true confounders or include colliders</a:t>
            </a:r>
          </a:p>
          <a:p>
            <a:pPr>
              <a:buFont typeface="Arial" panose="020B0604020202020204" pitchFamily="34" charset="0"/>
              <a:buChar char="•"/>
            </a:pPr>
            <a:r>
              <a:rPr lang="en-US" dirty="0"/>
              <a:t>it chooses variables based purely on fit, not on causal structure</a:t>
            </a:r>
          </a:p>
          <a:p>
            <a:pPr>
              <a:buFont typeface="Arial" panose="020B0604020202020204" pitchFamily="34" charset="0"/>
              <a:buChar char="•"/>
            </a:pPr>
            <a:endParaRPr lang="en-US" dirty="0"/>
          </a:p>
          <a:p>
            <a:pPr>
              <a:buFont typeface="Arial" panose="020B0604020202020204" pitchFamily="34" charset="0"/>
              <a:buChar char="•"/>
            </a:pPr>
            <a:r>
              <a:rPr lang="en-US" dirty="0"/>
              <a:t>May choose variables that are significant just by chance even if they have no real effect in the ‘population’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“Dredging finds the best model for your dataset, not necessarily the best model for your system.”</a:t>
            </a:r>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8</a:t>
            </a:fld>
            <a:endParaRPr lang="en-US"/>
          </a:p>
        </p:txBody>
      </p:sp>
    </p:spTree>
    <p:extLst>
      <p:ext uri="{BB962C8B-B14F-4D97-AF65-F5344CB8AC3E}">
        <p14:creationId xmlns:p14="http://schemas.microsoft.com/office/powerpoint/2010/main" val="384457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Random noise across models slightly reduced by averaging </a:t>
            </a:r>
            <a:r>
              <a:rPr lang="en-US" dirty="0" err="1"/>
              <a:t>togther</a:t>
            </a:r>
            <a:r>
              <a:rPr lang="en-US" dirty="0"/>
              <a:t> estimates from multiple models.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Parameter estimates may shrink if parameters aren’t significant without a specific control variable or aren’t included in every set that is averaged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flip side of reducing variance is that mixing estimates from models with different biases can result in inconsistent estimates so it’s unclear what the final averaged estimate really represents in biological terms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averaging is for predicting well, not for confirming why something happens.”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In applied or agricultural settings, your goal is often </a:t>
            </a:r>
            <a:r>
              <a:rPr lang="en-US" b="1" dirty="0"/>
              <a:t>prediction</a:t>
            </a:r>
            <a:r>
              <a:rPr lang="en-US" dirty="0"/>
              <a:t>, not understanding causation.</a:t>
            </a:r>
          </a:p>
          <a:p>
            <a:r>
              <a:rPr lang="en-US" dirty="0"/>
              <a:t>For example, if you want to predict which feed formula cows will perform best on, including lots of variables—age, weight, farm, season, health, etc.—in a model averaging framework helps capture all the relevant variation. Even if some variables aren’t causally related, averaging across models gives </a:t>
            </a:r>
            <a:r>
              <a:rPr lang="en-US" b="1" dirty="0"/>
              <a:t>more stable, accurate predictions</a:t>
            </a:r>
            <a:r>
              <a:rPr lang="en-US" dirty="0"/>
              <a:t> of feed performance.</a:t>
            </a:r>
          </a:p>
          <a:p>
            <a:r>
              <a:rPr lang="en-US" dirty="0"/>
              <a:t>Causal interpretation (like “feed X causes higher milk yield controlling for everything else”) is secondary or not required here—the main goal is </a:t>
            </a:r>
            <a:r>
              <a:rPr lang="en-US" b="1" dirty="0"/>
              <a:t>getting the best predictive estimate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9</a:t>
            </a:fld>
            <a:endParaRPr lang="en-US"/>
          </a:p>
        </p:txBody>
      </p:sp>
    </p:spTree>
    <p:extLst>
      <p:ext uri="{BB962C8B-B14F-4D97-AF65-F5344CB8AC3E}">
        <p14:creationId xmlns:p14="http://schemas.microsoft.com/office/powerpoint/2010/main" val="3153293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reality, all science is a little bit of both. You have your main hypotheses you set out to test, but you probably collected a lot of extra data on things that MIGHT also be important. You can combine these... Create a DAG for your main hypothesis and use model exploration for all the extras. </a:t>
            </a:r>
          </a:p>
          <a:p>
            <a:endParaRPr lang="en-US" dirty="0"/>
          </a:p>
          <a:p>
            <a:r>
              <a:rPr lang="en-US" dirty="0"/>
              <a:t>Use confirmatory modeling when you know what model you want. Use exploratory selection when you don’t.</a:t>
            </a:r>
          </a:p>
        </p:txBody>
      </p:sp>
      <p:sp>
        <p:nvSpPr>
          <p:cNvPr id="4" name="Slide Number Placeholder 3"/>
          <p:cNvSpPr>
            <a:spLocks noGrp="1"/>
          </p:cNvSpPr>
          <p:nvPr>
            <p:ph type="sldNum" sz="quarter" idx="5"/>
          </p:nvPr>
        </p:nvSpPr>
        <p:spPr/>
        <p:txBody>
          <a:bodyPr/>
          <a:lstStyle/>
          <a:p>
            <a:fld id="{856C885E-55C1-404B-AD85-B37390A0AC67}" type="slidenum">
              <a:rPr lang="en-US" smtClean="0"/>
              <a:t>10</a:t>
            </a:fld>
            <a:endParaRPr lang="en-US"/>
          </a:p>
        </p:txBody>
      </p:sp>
    </p:spTree>
    <p:extLst>
      <p:ext uri="{BB962C8B-B14F-4D97-AF65-F5344CB8AC3E}">
        <p14:creationId xmlns:p14="http://schemas.microsoft.com/office/powerpoint/2010/main" val="2382298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model-fitting algorithms (e.g., REML, Laplace, adaptive Gauss-Hermite) work by navigating a high-dimensional parameter space using gradient steps.</a:t>
            </a:r>
          </a:p>
          <a:p>
            <a:r>
              <a:rPr lang="en-US" dirty="0"/>
              <a:t>If predictors have very different scales (e.g., one measured in milligrams and another in kilometers):</a:t>
            </a:r>
          </a:p>
          <a:p>
            <a:r>
              <a:rPr lang="en-US" dirty="0"/>
              <a:t>The likelihood surface becomes </a:t>
            </a:r>
            <a:r>
              <a:rPr lang="en-US" b="1" dirty="0"/>
              <a:t>elongated and skewed</a:t>
            </a:r>
            <a:endParaRPr lang="en-US" dirty="0"/>
          </a:p>
          <a:p>
            <a:r>
              <a:rPr lang="en-US" dirty="0"/>
              <a:t>Optimization takes steps of wildly different magnitudes in different dimensions</a:t>
            </a:r>
          </a:p>
          <a:p>
            <a:r>
              <a:rPr lang="en-US" dirty="0"/>
              <a:t>Gradients become unstable</a:t>
            </a:r>
          </a:p>
          <a:p>
            <a:r>
              <a:rPr lang="en-US" dirty="0"/>
              <a:t>The Hessian becomes ill-conditioned</a:t>
            </a:r>
          </a:p>
          <a:p>
            <a:r>
              <a:rPr lang="en-US" dirty="0"/>
              <a:t>→ This causes </a:t>
            </a:r>
            <a:r>
              <a:rPr lang="en-US" b="1" dirty="0"/>
              <a:t>slow convergence</a:t>
            </a:r>
            <a:r>
              <a:rPr lang="en-US" dirty="0"/>
              <a:t>, warnings about boundary conditions, or complete failure to converge.</a:t>
            </a:r>
          </a:p>
          <a:p>
            <a:r>
              <a:rPr lang="en-US" dirty="0"/>
              <a:t>Scaling makes the likelihood surface </a:t>
            </a:r>
            <a:r>
              <a:rPr lang="en-US" b="1" dirty="0"/>
              <a:t>more spherical</a:t>
            </a:r>
            <a:r>
              <a:rPr lang="en-US" dirty="0"/>
              <a:t>, so the optimizer takes </a:t>
            </a:r>
            <a:r>
              <a:rPr lang="en-US" b="1" dirty="0"/>
              <a:t>stable, equal-sized steps</a:t>
            </a:r>
            <a:r>
              <a:rPr lang="en-US" dirty="0"/>
              <a:t> in all directions.</a:t>
            </a:r>
          </a:p>
          <a:p>
            <a:endParaRPr lang="en-US" dirty="0"/>
          </a:p>
        </p:txBody>
      </p:sp>
      <p:sp>
        <p:nvSpPr>
          <p:cNvPr id="4" name="Slide Number Placeholder 3"/>
          <p:cNvSpPr>
            <a:spLocks noGrp="1"/>
          </p:cNvSpPr>
          <p:nvPr>
            <p:ph type="sldNum" sz="quarter" idx="5"/>
          </p:nvPr>
        </p:nvSpPr>
        <p:spPr/>
        <p:txBody>
          <a:bodyPr/>
          <a:lstStyle/>
          <a:p>
            <a:fld id="{856C885E-55C1-404B-AD85-B37390A0AC67}" type="slidenum">
              <a:rPr lang="en-US" smtClean="0"/>
              <a:t>12</a:t>
            </a:fld>
            <a:endParaRPr lang="en-US"/>
          </a:p>
        </p:txBody>
      </p:sp>
    </p:spTree>
    <p:extLst>
      <p:ext uri="{BB962C8B-B14F-4D97-AF65-F5344CB8AC3E}">
        <p14:creationId xmlns:p14="http://schemas.microsoft.com/office/powerpoint/2010/main" val="1501446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0EE87-1819-B58C-B079-F4A0E3C73E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1971F2-3226-8594-E0E8-D73A0358FC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70EEE1-A098-31AF-8B09-F15574937745}"/>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5" name="Footer Placeholder 4">
            <a:extLst>
              <a:ext uri="{FF2B5EF4-FFF2-40B4-BE49-F238E27FC236}">
                <a16:creationId xmlns:a16="http://schemas.microsoft.com/office/drawing/2014/main" id="{DABEA203-3DF8-6C72-2B38-A3AB32F202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9984C-1EAC-2F19-A4E2-9612CD0316AC}"/>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3928881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3EDE-8222-4CDC-F6DC-39148BF3F8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719DEC-6100-9E9A-FE5A-3C74FC8BFE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36AB21-4BFC-9EA7-AFAA-83DDC97C284B}"/>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5" name="Footer Placeholder 4">
            <a:extLst>
              <a:ext uri="{FF2B5EF4-FFF2-40B4-BE49-F238E27FC236}">
                <a16:creationId xmlns:a16="http://schemas.microsoft.com/office/drawing/2014/main" id="{4633AE1A-6B8B-3EC2-F75C-CF0597886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BE6067-DC6A-FF8A-2A9E-006AC5285762}"/>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2497826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4ACA-C84C-2388-D8F2-B8AC12EC8F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A8EE3C-3856-A4CE-E278-05C3A2A9CB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351B46-5CC8-F81B-95C7-B8BC774088E4}"/>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5" name="Footer Placeholder 4">
            <a:extLst>
              <a:ext uri="{FF2B5EF4-FFF2-40B4-BE49-F238E27FC236}">
                <a16:creationId xmlns:a16="http://schemas.microsoft.com/office/drawing/2014/main" id="{7B5A3AE5-0F7E-95E5-8184-F347A44BE2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F72FA3-2554-1439-36E7-09C7BBF3BF77}"/>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967538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2769B-B6C0-0CA9-20AD-50EEA7F5FC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834593-C522-8690-5811-AAC94AF328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D0EBD0-3833-6773-74A6-6F8855B3A2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BD87E1-61C8-C44E-3229-69016A989E6F}"/>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6" name="Footer Placeholder 5">
            <a:extLst>
              <a:ext uri="{FF2B5EF4-FFF2-40B4-BE49-F238E27FC236}">
                <a16:creationId xmlns:a16="http://schemas.microsoft.com/office/drawing/2014/main" id="{DA091791-8FC2-A5DD-AE97-046C3693FB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53BB87-B03E-B041-8DA9-B8546AF429EA}"/>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247797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3BA1-9054-A942-93A5-36B5B9BBA4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74120E-1E3A-C32B-51DF-2DA1D607BB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01876-99A8-94AD-EA34-76CDC6022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7F3C6F-1506-2A47-D28A-D0EC998878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09D90-466D-062D-D6A6-810DDE9A3B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275B2A-AA20-A50B-6A3B-919CE5CDB979}"/>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8" name="Footer Placeholder 7">
            <a:extLst>
              <a:ext uri="{FF2B5EF4-FFF2-40B4-BE49-F238E27FC236}">
                <a16:creationId xmlns:a16="http://schemas.microsoft.com/office/drawing/2014/main" id="{3EAC6E29-29A4-718F-1C02-29802A84AA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7B71B0-46FD-ED03-1344-C3B910C21DE0}"/>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348929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7456-B760-6CF5-B945-A3E223273B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13D576-BB8D-25D8-6E33-6BE71E373570}"/>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4" name="Footer Placeholder 3">
            <a:extLst>
              <a:ext uri="{FF2B5EF4-FFF2-40B4-BE49-F238E27FC236}">
                <a16:creationId xmlns:a16="http://schemas.microsoft.com/office/drawing/2014/main" id="{1F441415-D8F4-3991-67FB-BEDA720FC8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C9BA7A-BDCE-A3F0-E2DA-4E0D9502F4ED}"/>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599268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C1A8F2-F545-FE76-E8ED-7A7BA7E278F4}"/>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3" name="Footer Placeholder 2">
            <a:extLst>
              <a:ext uri="{FF2B5EF4-FFF2-40B4-BE49-F238E27FC236}">
                <a16:creationId xmlns:a16="http://schemas.microsoft.com/office/drawing/2014/main" id="{C023A2F9-54B9-2F17-6509-5ACD873766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38FF6C-0460-91E1-024B-0A31AD379AF6}"/>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614825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5F160-4A57-ABE4-A34E-5616D2D10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6B506C-1DE9-D4C0-8430-D4AFECB462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1E36F9-AC5B-2273-8DD2-9706D9E77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A8C201-5E97-1F48-5760-35CE3B6F22A8}"/>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6" name="Footer Placeholder 5">
            <a:extLst>
              <a:ext uri="{FF2B5EF4-FFF2-40B4-BE49-F238E27FC236}">
                <a16:creationId xmlns:a16="http://schemas.microsoft.com/office/drawing/2014/main" id="{02D21A31-CB48-427B-8761-44BE8BCEC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91B4C-FD3F-859A-BBD5-C750B7B81389}"/>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938189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FFC7-80C2-4BA1-D1DF-903AD4A8B9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F8217D-C077-4411-0350-54E4EEE49F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8EB37E-E7BA-395F-C95F-42131375B0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03650-8D57-4C0D-B9CA-53832208BE77}"/>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6" name="Footer Placeholder 5">
            <a:extLst>
              <a:ext uri="{FF2B5EF4-FFF2-40B4-BE49-F238E27FC236}">
                <a16:creationId xmlns:a16="http://schemas.microsoft.com/office/drawing/2014/main" id="{5A7463B5-F5D8-C9FE-50C4-1CF9E81A6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CC8323-7CF0-08E6-ECD0-94D6DDC966F7}"/>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1752747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8CEF-F6CE-FB2C-C6A6-42F5CAA0E8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E81BF9-0473-44ED-1896-E640F142F6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F77FB-0D7F-5C40-56DC-D45458E36A47}"/>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5" name="Footer Placeholder 4">
            <a:extLst>
              <a:ext uri="{FF2B5EF4-FFF2-40B4-BE49-F238E27FC236}">
                <a16:creationId xmlns:a16="http://schemas.microsoft.com/office/drawing/2014/main" id="{D7C910B2-E487-DA82-25E8-227E54EA3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B0E4C4-BEA9-918F-CA01-A5BA04335BD7}"/>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3057360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34581F-C92A-7B12-0580-ED47A43796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7A757B-E22C-3099-90CD-38BAFC12DF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DC717E-65F6-8535-AA38-557065665C00}"/>
              </a:ext>
            </a:extLst>
          </p:cNvPr>
          <p:cNvSpPr>
            <a:spLocks noGrp="1"/>
          </p:cNvSpPr>
          <p:nvPr>
            <p:ph type="dt" sz="half" idx="10"/>
          </p:nvPr>
        </p:nvSpPr>
        <p:spPr/>
        <p:txBody>
          <a:bodyPr/>
          <a:lstStyle/>
          <a:p>
            <a:fld id="{AD8B332D-3A2C-6749-ACCE-DDFFCB92277E}" type="datetimeFigureOut">
              <a:rPr lang="en-US" smtClean="0"/>
              <a:t>11/25/25</a:t>
            </a:fld>
            <a:endParaRPr lang="en-US"/>
          </a:p>
        </p:txBody>
      </p:sp>
      <p:sp>
        <p:nvSpPr>
          <p:cNvPr id="5" name="Footer Placeholder 4">
            <a:extLst>
              <a:ext uri="{FF2B5EF4-FFF2-40B4-BE49-F238E27FC236}">
                <a16:creationId xmlns:a16="http://schemas.microsoft.com/office/drawing/2014/main" id="{DD0949D9-0995-F791-601F-914BFC9FC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1C9B21-A406-1B14-5296-E9538F9AB650}"/>
              </a:ext>
            </a:extLst>
          </p:cNvPr>
          <p:cNvSpPr>
            <a:spLocks noGrp="1"/>
          </p:cNvSpPr>
          <p:nvPr>
            <p:ph type="sldNum" sz="quarter" idx="12"/>
          </p:nvPr>
        </p:nvSpPr>
        <p:spPr/>
        <p:txBody>
          <a:bodyPr/>
          <a:lstStyle/>
          <a:p>
            <a:fld id="{380E856B-2DBE-1346-B5CC-75AB64EB6BF0}" type="slidenum">
              <a:rPr lang="en-US" smtClean="0"/>
              <a:t>‹#›</a:t>
            </a:fld>
            <a:endParaRPr lang="en-US"/>
          </a:p>
        </p:txBody>
      </p:sp>
    </p:spTree>
    <p:extLst>
      <p:ext uri="{BB962C8B-B14F-4D97-AF65-F5344CB8AC3E}">
        <p14:creationId xmlns:p14="http://schemas.microsoft.com/office/powerpoint/2010/main" val="925724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0B59DA-5862-0384-CE32-D8732614A5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EF1D55-F42C-792D-72BB-D7C657E72A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C2711-36D2-863A-C498-6AD963C34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8B332D-3A2C-6749-ACCE-DDFFCB92277E}" type="datetimeFigureOut">
              <a:rPr lang="en-US" smtClean="0"/>
              <a:t>11/25/25</a:t>
            </a:fld>
            <a:endParaRPr lang="en-US"/>
          </a:p>
        </p:txBody>
      </p:sp>
      <p:sp>
        <p:nvSpPr>
          <p:cNvPr id="5" name="Footer Placeholder 4">
            <a:extLst>
              <a:ext uri="{FF2B5EF4-FFF2-40B4-BE49-F238E27FC236}">
                <a16:creationId xmlns:a16="http://schemas.microsoft.com/office/drawing/2014/main" id="{52CCB885-3953-FD75-F067-B05B7B1CB6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08BADC2-6981-25B0-D7F9-6AE21BBCFF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0E856B-2DBE-1346-B5CC-75AB64EB6BF0}" type="slidenum">
              <a:rPr lang="en-US" smtClean="0"/>
              <a:t>‹#›</a:t>
            </a:fld>
            <a:endParaRPr lang="en-US"/>
          </a:p>
        </p:txBody>
      </p:sp>
    </p:spTree>
    <p:extLst>
      <p:ext uri="{BB962C8B-B14F-4D97-AF65-F5344CB8AC3E}">
        <p14:creationId xmlns:p14="http://schemas.microsoft.com/office/powerpoint/2010/main" val="1519711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C99CB4-B57F-96E3-9119-DA087F666830}"/>
              </a:ext>
            </a:extLst>
          </p:cNvPr>
          <p:cNvSpPr>
            <a:spLocks noGrp="1"/>
          </p:cNvSpPr>
          <p:nvPr>
            <p:ph type="title"/>
          </p:nvPr>
        </p:nvSpPr>
        <p:spPr/>
        <p:txBody>
          <a:bodyPr/>
          <a:lstStyle/>
          <a:p>
            <a:r>
              <a:rPr lang="en-US" dirty="0"/>
              <a:t>Intro to Model Selection</a:t>
            </a:r>
          </a:p>
        </p:txBody>
      </p:sp>
      <p:sp>
        <p:nvSpPr>
          <p:cNvPr id="5" name="Content Placeholder 4">
            <a:extLst>
              <a:ext uri="{FF2B5EF4-FFF2-40B4-BE49-F238E27FC236}">
                <a16:creationId xmlns:a16="http://schemas.microsoft.com/office/drawing/2014/main" id="{1D33EF80-0C1E-7752-1475-295566B2126C}"/>
              </a:ext>
            </a:extLst>
          </p:cNvPr>
          <p:cNvSpPr>
            <a:spLocks noGrp="1"/>
          </p:cNvSpPr>
          <p:nvPr>
            <p:ph idx="1"/>
          </p:nvPr>
        </p:nvSpPr>
        <p:spPr/>
        <p:txBody>
          <a:bodyPr>
            <a:normAutofit/>
          </a:bodyPr>
          <a:lstStyle/>
          <a:p>
            <a:r>
              <a:rPr lang="en-US" dirty="0"/>
              <a:t>What do we do have we have more than a few variables we want to model? 5, 10, 20? </a:t>
            </a:r>
          </a:p>
          <a:p>
            <a:r>
              <a:rPr lang="en-US" dirty="0"/>
              <a:t>Some are related to our biological hypotheses</a:t>
            </a:r>
          </a:p>
          <a:p>
            <a:r>
              <a:rPr lang="en-US" dirty="0"/>
              <a:t>Some are plausible controls or  confounds</a:t>
            </a:r>
          </a:p>
          <a:p>
            <a:r>
              <a:rPr lang="en-US" dirty="0"/>
              <a:t>Some are just covariates that might help improve the model fit</a:t>
            </a:r>
          </a:p>
          <a:p>
            <a:r>
              <a:rPr lang="en-US" dirty="0"/>
              <a:t>Interactions could exist</a:t>
            </a:r>
          </a:p>
          <a:p>
            <a:r>
              <a:rPr lang="en-US" dirty="0"/>
              <a:t>You can’t test/plot everything</a:t>
            </a:r>
          </a:p>
          <a:p>
            <a:r>
              <a:rPr lang="en-US" dirty="0"/>
              <a:t>You don’t want to p-hack or engage in garden of forking paths exploration</a:t>
            </a:r>
          </a:p>
          <a:p>
            <a:endParaRPr lang="en-US" dirty="0"/>
          </a:p>
        </p:txBody>
      </p:sp>
    </p:spTree>
    <p:extLst>
      <p:ext uri="{BB962C8B-B14F-4D97-AF65-F5344CB8AC3E}">
        <p14:creationId xmlns:p14="http://schemas.microsoft.com/office/powerpoint/2010/main" val="249244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D3839-7296-3C8D-5DB6-A8B48879A07E}"/>
              </a:ext>
            </a:extLst>
          </p:cNvPr>
          <p:cNvSpPr>
            <a:spLocks noGrp="1"/>
          </p:cNvSpPr>
          <p:nvPr>
            <p:ph type="title"/>
          </p:nvPr>
        </p:nvSpPr>
        <p:spPr/>
        <p:txBody>
          <a:bodyPr/>
          <a:lstStyle/>
          <a:p>
            <a:r>
              <a:rPr lang="en-US" dirty="0"/>
              <a:t>Garden of Forking Paths</a:t>
            </a:r>
          </a:p>
        </p:txBody>
      </p:sp>
      <p:sp>
        <p:nvSpPr>
          <p:cNvPr id="3" name="Content Placeholder 2">
            <a:extLst>
              <a:ext uri="{FF2B5EF4-FFF2-40B4-BE49-F238E27FC236}">
                <a16:creationId xmlns:a16="http://schemas.microsoft.com/office/drawing/2014/main" id="{27418713-4B05-5836-3464-353B96DB3D06}"/>
              </a:ext>
            </a:extLst>
          </p:cNvPr>
          <p:cNvSpPr>
            <a:spLocks noGrp="1"/>
          </p:cNvSpPr>
          <p:nvPr>
            <p:ph idx="1"/>
          </p:nvPr>
        </p:nvSpPr>
        <p:spPr>
          <a:xfrm>
            <a:off x="838200" y="1704336"/>
            <a:ext cx="10515600" cy="4486275"/>
          </a:xfrm>
        </p:spPr>
        <p:txBody>
          <a:bodyPr>
            <a:normAutofit fontScale="85000" lnSpcReduction="20000"/>
          </a:bodyPr>
          <a:lstStyle/>
          <a:p>
            <a:r>
              <a:rPr lang="en-US" dirty="0"/>
              <a:t>The “garden of forking paths” (Gelman &amp; </a:t>
            </a:r>
            <a:r>
              <a:rPr lang="en-US" dirty="0" err="1"/>
              <a:t>Loken</a:t>
            </a:r>
            <a:r>
              <a:rPr lang="en-US" dirty="0"/>
              <a:t>) refers to the problem that researchers make </a:t>
            </a:r>
            <a:r>
              <a:rPr lang="en-US" i="1" dirty="0"/>
              <a:t>many</a:t>
            </a:r>
            <a:r>
              <a:rPr lang="en-US" dirty="0"/>
              <a:t> analytical decisions </a:t>
            </a:r>
            <a:r>
              <a:rPr lang="en-US" b="1" dirty="0"/>
              <a:t>after seeing the data</a:t>
            </a:r>
            <a:r>
              <a:rPr lang="en-US" dirty="0"/>
              <a:t>, even if they only run “one” final analysis.</a:t>
            </a:r>
          </a:p>
          <a:p>
            <a:r>
              <a:rPr lang="en-US" dirty="0"/>
              <a:t>Researchers aren’t intentionally cheating but... the </a:t>
            </a:r>
            <a:r>
              <a:rPr lang="en-US" i="1" dirty="0"/>
              <a:t>existence</a:t>
            </a:r>
            <a:r>
              <a:rPr lang="en-US" dirty="0"/>
              <a:t> of multiple reasonable statistical paths inflates false positives</a:t>
            </a:r>
          </a:p>
          <a:p>
            <a:pPr marL="0" indent="0">
              <a:buNone/>
            </a:pPr>
            <a:r>
              <a:rPr lang="en-US" u="sng" dirty="0"/>
              <a:t>Examples of hidden forks:</a:t>
            </a:r>
          </a:p>
          <a:p>
            <a:pPr>
              <a:buFont typeface="Arial" panose="020B0604020202020204" pitchFamily="34" charset="0"/>
              <a:buChar char="•"/>
            </a:pPr>
            <a:r>
              <a:rPr lang="en-US" dirty="0"/>
              <a:t>Deciding whether to log-transform after seeing the distribution</a:t>
            </a:r>
          </a:p>
          <a:p>
            <a:pPr>
              <a:buFont typeface="Arial" panose="020B0604020202020204" pitchFamily="34" charset="0"/>
              <a:buChar char="•"/>
            </a:pPr>
            <a:r>
              <a:rPr lang="en-US" dirty="0"/>
              <a:t>Trying different interaction terms when the first model isn’t significant</a:t>
            </a:r>
          </a:p>
          <a:p>
            <a:pPr>
              <a:buFont typeface="Arial" panose="020B0604020202020204" pitchFamily="34" charset="0"/>
              <a:buChar char="•"/>
            </a:pPr>
            <a:r>
              <a:rPr lang="en-US" dirty="0"/>
              <a:t>Removing or keeping an outlier because “it looks weird”</a:t>
            </a:r>
          </a:p>
          <a:p>
            <a:pPr>
              <a:buFont typeface="Arial" panose="020B0604020202020204" pitchFamily="34" charset="0"/>
              <a:buChar char="•"/>
            </a:pPr>
            <a:r>
              <a:rPr lang="en-US" dirty="0"/>
              <a:t>Trying a model with/without a control variable based on AIC</a:t>
            </a:r>
          </a:p>
          <a:p>
            <a:pPr>
              <a:buFont typeface="Arial" panose="020B0604020202020204" pitchFamily="34" charset="0"/>
              <a:buChar char="•"/>
            </a:pPr>
            <a:r>
              <a:rPr lang="en-US" dirty="0"/>
              <a:t>Choosing to analyze male and female separately only after noticing differences</a:t>
            </a:r>
          </a:p>
          <a:p>
            <a:r>
              <a:rPr lang="en-US" dirty="0"/>
              <a:t>You pick one path, but the data influenced how you chose it.</a:t>
            </a:r>
          </a:p>
          <a:p>
            <a:endParaRPr lang="en-US" dirty="0"/>
          </a:p>
        </p:txBody>
      </p:sp>
      <p:sp>
        <p:nvSpPr>
          <p:cNvPr id="4" name="TextBox 3">
            <a:extLst>
              <a:ext uri="{FF2B5EF4-FFF2-40B4-BE49-F238E27FC236}">
                <a16:creationId xmlns:a16="http://schemas.microsoft.com/office/drawing/2014/main" id="{AA6E5B86-0F25-4754-2331-6331BDC6E04C}"/>
              </a:ext>
            </a:extLst>
          </p:cNvPr>
          <p:cNvSpPr txBox="1"/>
          <p:nvPr/>
        </p:nvSpPr>
        <p:spPr>
          <a:xfrm>
            <a:off x="3029803" y="6204259"/>
            <a:ext cx="5692969" cy="584775"/>
          </a:xfrm>
          <a:prstGeom prst="rect">
            <a:avLst/>
          </a:prstGeom>
          <a:noFill/>
        </p:spPr>
        <p:txBody>
          <a:bodyPr wrap="none" rtlCol="0">
            <a:spAutoFit/>
          </a:bodyPr>
          <a:lstStyle/>
          <a:p>
            <a:r>
              <a:rPr lang="en-US" sz="3200" b="1" dirty="0">
                <a:solidFill>
                  <a:srgbClr val="FF0000"/>
                </a:solidFill>
              </a:rPr>
              <a:t>Inflates the risk of Type I Error</a:t>
            </a:r>
          </a:p>
        </p:txBody>
      </p:sp>
    </p:spTree>
    <p:extLst>
      <p:ext uri="{BB962C8B-B14F-4D97-AF65-F5344CB8AC3E}">
        <p14:creationId xmlns:p14="http://schemas.microsoft.com/office/powerpoint/2010/main" val="503800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1176-E11C-4B48-5777-220AC7031735}"/>
              </a:ext>
            </a:extLst>
          </p:cNvPr>
          <p:cNvSpPr>
            <a:spLocks noGrp="1"/>
          </p:cNvSpPr>
          <p:nvPr>
            <p:ph type="title"/>
          </p:nvPr>
        </p:nvSpPr>
        <p:spPr/>
        <p:txBody>
          <a:bodyPr/>
          <a:lstStyle/>
          <a:p>
            <a:r>
              <a:rPr lang="en-US" dirty="0"/>
              <a:t>P-Hacking</a:t>
            </a:r>
          </a:p>
        </p:txBody>
      </p:sp>
      <p:sp>
        <p:nvSpPr>
          <p:cNvPr id="3" name="Content Placeholder 2">
            <a:extLst>
              <a:ext uri="{FF2B5EF4-FFF2-40B4-BE49-F238E27FC236}">
                <a16:creationId xmlns:a16="http://schemas.microsoft.com/office/drawing/2014/main" id="{1A1C2469-F00A-612B-0AFF-F69BE415E89F}"/>
              </a:ext>
            </a:extLst>
          </p:cNvPr>
          <p:cNvSpPr>
            <a:spLocks noGrp="1"/>
          </p:cNvSpPr>
          <p:nvPr>
            <p:ph idx="1"/>
          </p:nvPr>
        </p:nvSpPr>
        <p:spPr>
          <a:xfrm>
            <a:off x="838200" y="1542197"/>
            <a:ext cx="10515600" cy="4634766"/>
          </a:xfrm>
        </p:spPr>
        <p:txBody>
          <a:bodyPr>
            <a:normAutofit fontScale="92500" lnSpcReduction="20000"/>
          </a:bodyPr>
          <a:lstStyle/>
          <a:p>
            <a:r>
              <a:rPr lang="en-US" dirty="0"/>
              <a:t>When researchers </a:t>
            </a:r>
            <a:r>
              <a:rPr lang="en-US" i="1" dirty="0"/>
              <a:t>intentionally or unintentionally</a:t>
            </a:r>
            <a:r>
              <a:rPr lang="en-US" dirty="0"/>
              <a:t> manipulate their analysis to obtain a significant p-value (&lt; 0.05).</a:t>
            </a:r>
          </a:p>
          <a:p>
            <a:r>
              <a:rPr lang="en-US" dirty="0"/>
              <a:t>It’s a subset of the garden of forking paths, but more explicitly tied to </a:t>
            </a:r>
            <a:r>
              <a:rPr lang="en-US" b="1" dirty="0"/>
              <a:t>searching for significance</a:t>
            </a:r>
            <a:r>
              <a:rPr lang="en-US" dirty="0"/>
              <a:t>.</a:t>
            </a:r>
          </a:p>
          <a:p>
            <a:endParaRPr lang="en-US" dirty="0"/>
          </a:p>
          <a:p>
            <a:pPr marL="0" indent="0">
              <a:buNone/>
            </a:pPr>
            <a:r>
              <a:rPr lang="en-US" u="sng" dirty="0"/>
              <a:t>Common examples</a:t>
            </a:r>
            <a:r>
              <a:rPr lang="en-US" dirty="0"/>
              <a:t>:</a:t>
            </a:r>
          </a:p>
          <a:p>
            <a:pPr>
              <a:buFont typeface="Arial" panose="020B0604020202020204" pitchFamily="34" charset="0"/>
              <a:buChar char="•"/>
            </a:pPr>
            <a:r>
              <a:rPr lang="en-US" dirty="0"/>
              <a:t>Running multiple models and reporting only the one with p &lt; 0.05</a:t>
            </a:r>
          </a:p>
          <a:p>
            <a:pPr>
              <a:buFont typeface="Arial" panose="020B0604020202020204" pitchFamily="34" charset="0"/>
              <a:buChar char="•"/>
            </a:pPr>
            <a:r>
              <a:rPr lang="en-US" dirty="0"/>
              <a:t>Adding/removing covariates until the effect becomes significant</a:t>
            </a:r>
          </a:p>
          <a:p>
            <a:pPr>
              <a:buFont typeface="Arial" panose="020B0604020202020204" pitchFamily="34" charset="0"/>
              <a:buChar char="•"/>
            </a:pPr>
            <a:r>
              <a:rPr lang="en-US" dirty="0"/>
              <a:t>Trying multiple outcome variables but only reporting the significant one</a:t>
            </a:r>
          </a:p>
          <a:p>
            <a:pPr>
              <a:buFont typeface="Arial" panose="020B0604020202020204" pitchFamily="34" charset="0"/>
              <a:buChar char="•"/>
            </a:pPr>
            <a:r>
              <a:rPr lang="en-US" dirty="0"/>
              <a:t>Optional stopping: “we’ll collect data until we hit significance”</a:t>
            </a:r>
          </a:p>
          <a:p>
            <a:pPr>
              <a:buFont typeface="Arial" panose="020B0604020202020204" pitchFamily="34" charset="0"/>
              <a:buChar char="•"/>
            </a:pPr>
            <a:r>
              <a:rPr lang="en-US" dirty="0"/>
              <a:t>Trying both parametric and nonparametric tests and reporting the one that works</a:t>
            </a:r>
          </a:p>
          <a:p>
            <a:endParaRPr lang="en-US" dirty="0"/>
          </a:p>
        </p:txBody>
      </p:sp>
      <p:sp>
        <p:nvSpPr>
          <p:cNvPr id="4" name="TextBox 3">
            <a:extLst>
              <a:ext uri="{FF2B5EF4-FFF2-40B4-BE49-F238E27FC236}">
                <a16:creationId xmlns:a16="http://schemas.microsoft.com/office/drawing/2014/main" id="{4F1C8089-B950-7CE6-7A18-5B593D890C1F}"/>
              </a:ext>
            </a:extLst>
          </p:cNvPr>
          <p:cNvSpPr txBox="1"/>
          <p:nvPr/>
        </p:nvSpPr>
        <p:spPr>
          <a:xfrm>
            <a:off x="3384645" y="5908100"/>
            <a:ext cx="5692969" cy="584775"/>
          </a:xfrm>
          <a:prstGeom prst="rect">
            <a:avLst/>
          </a:prstGeom>
          <a:noFill/>
        </p:spPr>
        <p:txBody>
          <a:bodyPr wrap="none" rtlCol="0">
            <a:spAutoFit/>
          </a:bodyPr>
          <a:lstStyle/>
          <a:p>
            <a:r>
              <a:rPr lang="en-US" sz="3200" b="1" dirty="0">
                <a:solidFill>
                  <a:srgbClr val="FF0000"/>
                </a:solidFill>
              </a:rPr>
              <a:t>Inflates the risk of Type I Error</a:t>
            </a:r>
          </a:p>
        </p:txBody>
      </p:sp>
    </p:spTree>
    <p:extLst>
      <p:ext uri="{BB962C8B-B14F-4D97-AF65-F5344CB8AC3E}">
        <p14:creationId xmlns:p14="http://schemas.microsoft.com/office/powerpoint/2010/main" val="61040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9F086-B8E9-7CED-1140-A6FEA183996A}"/>
              </a:ext>
            </a:extLst>
          </p:cNvPr>
          <p:cNvSpPr>
            <a:spLocks noGrp="1"/>
          </p:cNvSpPr>
          <p:nvPr>
            <p:ph type="title"/>
          </p:nvPr>
        </p:nvSpPr>
        <p:spPr/>
        <p:txBody>
          <a:bodyPr/>
          <a:lstStyle/>
          <a:p>
            <a:r>
              <a:rPr lang="en-US" dirty="0"/>
              <a:t>Many post-data decisions are normal</a:t>
            </a:r>
          </a:p>
        </p:txBody>
      </p:sp>
      <p:sp>
        <p:nvSpPr>
          <p:cNvPr id="3" name="Content Placeholder 2">
            <a:extLst>
              <a:ext uri="{FF2B5EF4-FFF2-40B4-BE49-F238E27FC236}">
                <a16:creationId xmlns:a16="http://schemas.microsoft.com/office/drawing/2014/main" id="{76CED059-D9DF-4B3A-13EE-75EC6943175B}"/>
              </a:ext>
            </a:extLst>
          </p:cNvPr>
          <p:cNvSpPr>
            <a:spLocks noGrp="1"/>
          </p:cNvSpPr>
          <p:nvPr>
            <p:ph idx="1"/>
          </p:nvPr>
        </p:nvSpPr>
        <p:spPr>
          <a:xfrm>
            <a:off x="838200" y="1690688"/>
            <a:ext cx="10515600" cy="4486275"/>
          </a:xfrm>
        </p:spPr>
        <p:txBody>
          <a:bodyPr>
            <a:normAutofit fontScale="77500" lnSpcReduction="20000"/>
          </a:bodyPr>
          <a:lstStyle/>
          <a:p>
            <a:pPr marL="0" indent="0">
              <a:buNone/>
            </a:pPr>
            <a:r>
              <a:rPr lang="en-US" u="sng" dirty="0"/>
              <a:t>Normal model diagnostics</a:t>
            </a:r>
            <a:r>
              <a:rPr lang="en-US" dirty="0"/>
              <a:t>:</a:t>
            </a:r>
          </a:p>
          <a:p>
            <a:pPr>
              <a:buFont typeface="Arial" panose="020B0604020202020204" pitchFamily="34" charset="0"/>
              <a:buChar char="•"/>
            </a:pPr>
            <a:r>
              <a:rPr lang="en-US" dirty="0"/>
              <a:t>Look at distributions</a:t>
            </a:r>
          </a:p>
          <a:p>
            <a:pPr>
              <a:buFont typeface="Arial" panose="020B0604020202020204" pitchFamily="34" charset="0"/>
              <a:buChar char="•"/>
            </a:pPr>
            <a:r>
              <a:rPr lang="en-US" dirty="0"/>
              <a:t>Notice skew</a:t>
            </a:r>
          </a:p>
          <a:p>
            <a:pPr>
              <a:buFont typeface="Arial" panose="020B0604020202020204" pitchFamily="34" charset="0"/>
              <a:buChar char="•"/>
            </a:pPr>
            <a:r>
              <a:rPr lang="en-US" dirty="0"/>
              <a:t>Check residuals</a:t>
            </a:r>
          </a:p>
          <a:p>
            <a:pPr>
              <a:buFont typeface="Arial" panose="020B0604020202020204" pitchFamily="34" charset="0"/>
              <a:buChar char="•"/>
            </a:pPr>
            <a:r>
              <a:rPr lang="en-US" dirty="0"/>
              <a:t>See heteroscedasticity</a:t>
            </a:r>
          </a:p>
          <a:p>
            <a:pPr>
              <a:buFont typeface="Arial" panose="020B0604020202020204" pitchFamily="34" charset="0"/>
              <a:buChar char="•"/>
            </a:pPr>
            <a:r>
              <a:rPr lang="en-US" dirty="0"/>
              <a:t>Inspect diagnostic plots</a:t>
            </a:r>
          </a:p>
          <a:p>
            <a:pPr>
              <a:buFont typeface="Arial" panose="020B0604020202020204" pitchFamily="34" charset="0"/>
              <a:buChar char="•"/>
            </a:pPr>
            <a:r>
              <a:rPr lang="en-US" dirty="0"/>
              <a:t>Notice clear nonlinearity and consider polynomial terms or log transformations</a:t>
            </a:r>
          </a:p>
          <a:p>
            <a:endParaRPr lang="en-US" dirty="0"/>
          </a:p>
          <a:p>
            <a:r>
              <a:rPr lang="en-US" dirty="0"/>
              <a:t>Ex. Log-transform data because residuals are clearly non-normal or variances clearly explode</a:t>
            </a:r>
          </a:p>
          <a:p>
            <a:r>
              <a:rPr lang="en-US" dirty="0"/>
              <a:t>Ex. Notice sex clearly affects a relationship during </a:t>
            </a:r>
            <a:r>
              <a:rPr lang="en-US" i="1" dirty="0"/>
              <a:t>model checking</a:t>
            </a:r>
            <a:r>
              <a:rPr lang="en-US" dirty="0"/>
              <a:t>, adding an interaction is also reasonable</a:t>
            </a:r>
          </a:p>
          <a:p>
            <a:endParaRPr lang="en-US" dirty="0"/>
          </a:p>
        </p:txBody>
      </p:sp>
    </p:spTree>
    <p:extLst>
      <p:ext uri="{BB962C8B-B14F-4D97-AF65-F5344CB8AC3E}">
        <p14:creationId xmlns:p14="http://schemas.microsoft.com/office/powerpoint/2010/main" val="422797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3C057-EEC5-BAC7-68AE-86E25ADC190F}"/>
              </a:ext>
            </a:extLst>
          </p:cNvPr>
          <p:cNvSpPr>
            <a:spLocks noGrp="1"/>
          </p:cNvSpPr>
          <p:nvPr>
            <p:ph type="title"/>
          </p:nvPr>
        </p:nvSpPr>
        <p:spPr/>
        <p:txBody>
          <a:bodyPr/>
          <a:lstStyle/>
          <a:p>
            <a:r>
              <a:rPr lang="en-US" dirty="0"/>
              <a:t>Model Selection</a:t>
            </a:r>
          </a:p>
        </p:txBody>
      </p:sp>
      <p:sp>
        <p:nvSpPr>
          <p:cNvPr id="3" name="Content Placeholder 2">
            <a:extLst>
              <a:ext uri="{FF2B5EF4-FFF2-40B4-BE49-F238E27FC236}">
                <a16:creationId xmlns:a16="http://schemas.microsoft.com/office/drawing/2014/main" id="{50C48E6D-670A-00B7-27D8-E9E65D11C4A0}"/>
              </a:ext>
            </a:extLst>
          </p:cNvPr>
          <p:cNvSpPr>
            <a:spLocks noGrp="1"/>
          </p:cNvSpPr>
          <p:nvPr>
            <p:ph idx="1"/>
          </p:nvPr>
        </p:nvSpPr>
        <p:spPr/>
        <p:txBody>
          <a:bodyPr/>
          <a:lstStyle/>
          <a:p>
            <a:r>
              <a:rPr lang="en-US" dirty="0"/>
              <a:t>What is the best model among a set of plausible alternatives?</a:t>
            </a:r>
          </a:p>
          <a:p>
            <a:r>
              <a:rPr lang="en-US" dirty="0"/>
              <a:t>How do we avoid overfitting?</a:t>
            </a:r>
          </a:p>
          <a:p>
            <a:endParaRPr lang="en-US" b="1" dirty="0"/>
          </a:p>
          <a:p>
            <a:r>
              <a:rPr lang="en-US" dirty="0"/>
              <a:t>AIC scores for model comparison </a:t>
            </a:r>
          </a:p>
          <a:p>
            <a:endParaRPr lang="en-US" b="1" dirty="0"/>
          </a:p>
          <a:p>
            <a:pPr marL="0" indent="0" algn="ctr">
              <a:buNone/>
            </a:pPr>
            <a:r>
              <a:rPr lang="en-US" dirty="0"/>
              <a:t>AIC=−2ℓ+2K </a:t>
            </a:r>
          </a:p>
          <a:p>
            <a:pPr marL="0" indent="0">
              <a:buNone/>
            </a:pPr>
            <a:r>
              <a:rPr lang="en-US" dirty="0"/>
              <a:t>ℓ = log-likelihood (measure of fit)</a:t>
            </a:r>
          </a:p>
          <a:p>
            <a:pPr marL="0" indent="0">
              <a:buNone/>
            </a:pPr>
            <a:r>
              <a:rPr lang="en-US" dirty="0"/>
              <a:t>K = number of parameters (measure of complexity)</a:t>
            </a:r>
          </a:p>
          <a:p>
            <a:endParaRPr lang="en-US" dirty="0"/>
          </a:p>
          <a:p>
            <a:endParaRPr lang="en-US" dirty="0"/>
          </a:p>
        </p:txBody>
      </p:sp>
    </p:spTree>
    <p:extLst>
      <p:ext uri="{BB962C8B-B14F-4D97-AF65-F5344CB8AC3E}">
        <p14:creationId xmlns:p14="http://schemas.microsoft.com/office/powerpoint/2010/main" val="220538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EEF4F-CF1B-9378-8CC8-D7613EA31EF5}"/>
              </a:ext>
            </a:extLst>
          </p:cNvPr>
          <p:cNvSpPr>
            <a:spLocks noGrp="1"/>
          </p:cNvSpPr>
          <p:nvPr>
            <p:ph type="title"/>
          </p:nvPr>
        </p:nvSpPr>
        <p:spPr/>
        <p:txBody>
          <a:bodyPr/>
          <a:lstStyle/>
          <a:p>
            <a:r>
              <a:rPr lang="en-US" dirty="0"/>
              <a:t>Approaches to model selection: </a:t>
            </a:r>
            <a:br>
              <a:rPr lang="en-US" dirty="0"/>
            </a:br>
            <a:r>
              <a:rPr lang="en-US" dirty="0"/>
              <a:t>Confirmatory Analysis</a:t>
            </a:r>
          </a:p>
        </p:txBody>
      </p:sp>
      <p:sp>
        <p:nvSpPr>
          <p:cNvPr id="3" name="Content Placeholder 2">
            <a:extLst>
              <a:ext uri="{FF2B5EF4-FFF2-40B4-BE49-F238E27FC236}">
                <a16:creationId xmlns:a16="http://schemas.microsoft.com/office/drawing/2014/main" id="{71E213A4-6212-B71C-B99A-1333191481FF}"/>
              </a:ext>
            </a:extLst>
          </p:cNvPr>
          <p:cNvSpPr>
            <a:spLocks noGrp="1"/>
          </p:cNvSpPr>
          <p:nvPr>
            <p:ph sz="half" idx="1"/>
          </p:nvPr>
        </p:nvSpPr>
        <p:spPr/>
        <p:txBody>
          <a:bodyPr>
            <a:normAutofit fontScale="92500" lnSpcReduction="10000"/>
          </a:bodyPr>
          <a:lstStyle/>
          <a:p>
            <a:r>
              <a:rPr lang="en-US" b="1" dirty="0"/>
              <a:t>Manual, A Priori Hypothesis Testing</a:t>
            </a:r>
          </a:p>
          <a:p>
            <a:pPr>
              <a:buFont typeface="Arial" panose="020B0604020202020204" pitchFamily="34" charset="0"/>
              <a:buChar char="•"/>
            </a:pPr>
            <a:r>
              <a:rPr lang="en-US" dirty="0"/>
              <a:t>build DAGs</a:t>
            </a:r>
          </a:p>
          <a:p>
            <a:pPr>
              <a:buFont typeface="Arial" panose="020B0604020202020204" pitchFamily="34" charset="0"/>
              <a:buChar char="•"/>
            </a:pPr>
            <a:r>
              <a:rPr lang="en-US" dirty="0"/>
              <a:t>choose predictors based on DAG</a:t>
            </a:r>
          </a:p>
          <a:p>
            <a:pPr>
              <a:buFont typeface="Arial" panose="020B0604020202020204" pitchFamily="34" charset="0"/>
              <a:buChar char="•"/>
            </a:pPr>
            <a:r>
              <a:rPr lang="en-US" dirty="0"/>
              <a:t>run that model</a:t>
            </a:r>
          </a:p>
          <a:p>
            <a:pPr>
              <a:buFont typeface="Arial" panose="020B0604020202020204" pitchFamily="34" charset="0"/>
              <a:buChar char="•"/>
            </a:pPr>
            <a:r>
              <a:rPr lang="en-US" dirty="0"/>
              <a:t>interpret coefficients</a:t>
            </a:r>
          </a:p>
          <a:p>
            <a:endParaRPr lang="en-US" dirty="0"/>
          </a:p>
        </p:txBody>
      </p:sp>
      <p:sp>
        <p:nvSpPr>
          <p:cNvPr id="4" name="Content Placeholder 3">
            <a:extLst>
              <a:ext uri="{FF2B5EF4-FFF2-40B4-BE49-F238E27FC236}">
                <a16:creationId xmlns:a16="http://schemas.microsoft.com/office/drawing/2014/main" id="{BEB35015-E687-E5EA-83D5-7325C9986A4D}"/>
              </a:ext>
            </a:extLst>
          </p:cNvPr>
          <p:cNvSpPr>
            <a:spLocks noGrp="1"/>
          </p:cNvSpPr>
          <p:nvPr>
            <p:ph sz="half" idx="2"/>
          </p:nvPr>
        </p:nvSpPr>
        <p:spPr/>
        <p:txBody>
          <a:bodyPr>
            <a:normAutofit fontScale="92500" lnSpcReduction="10000"/>
          </a:bodyPr>
          <a:lstStyle/>
          <a:p>
            <a:r>
              <a:rPr lang="en-US" b="1" dirty="0"/>
              <a:t>Strengths:</a:t>
            </a:r>
            <a:endParaRPr lang="en-US" dirty="0"/>
          </a:p>
          <a:p>
            <a:pPr>
              <a:buFont typeface="Arial" panose="020B0604020202020204" pitchFamily="34" charset="0"/>
              <a:buChar char="•"/>
            </a:pPr>
            <a:r>
              <a:rPr lang="en-US" dirty="0"/>
              <a:t>Supports </a:t>
            </a:r>
            <a:r>
              <a:rPr lang="en-US" dirty="0">
                <a:highlight>
                  <a:srgbClr val="FFFF00"/>
                </a:highlight>
              </a:rPr>
              <a:t>causal inference</a:t>
            </a:r>
          </a:p>
          <a:p>
            <a:pPr>
              <a:buFont typeface="Arial" panose="020B0604020202020204" pitchFamily="34" charset="0"/>
              <a:buChar char="•"/>
            </a:pPr>
            <a:r>
              <a:rPr lang="en-US" dirty="0"/>
              <a:t>Protects against garden of forking paths</a:t>
            </a:r>
          </a:p>
          <a:p>
            <a:r>
              <a:rPr lang="en-US" b="1" dirty="0"/>
              <a:t>Weaknesses:</a:t>
            </a:r>
            <a:endParaRPr lang="en-US" dirty="0"/>
          </a:p>
          <a:p>
            <a:pPr>
              <a:buFont typeface="Arial" panose="020B0604020202020204" pitchFamily="34" charset="0"/>
              <a:buChar char="•"/>
            </a:pPr>
            <a:r>
              <a:rPr lang="en-US" dirty="0"/>
              <a:t>If you genuinely do </a:t>
            </a:r>
            <a:r>
              <a:rPr lang="en-US" i="1" dirty="0"/>
              <a:t>not</a:t>
            </a:r>
            <a:r>
              <a:rPr lang="en-US" dirty="0"/>
              <a:t> know the right model, DAGs become guesses</a:t>
            </a:r>
          </a:p>
          <a:p>
            <a:pPr>
              <a:buFont typeface="Arial" panose="020B0604020202020204" pitchFamily="34" charset="0"/>
              <a:buChar char="•"/>
            </a:pPr>
            <a:r>
              <a:rPr lang="en-US" dirty="0"/>
              <a:t>Limited flexibility</a:t>
            </a:r>
          </a:p>
          <a:p>
            <a:pPr>
              <a:buFont typeface="Arial" panose="020B0604020202020204" pitchFamily="34" charset="0"/>
              <a:buChar char="•"/>
            </a:pPr>
            <a:r>
              <a:rPr lang="en-US" dirty="0"/>
              <a:t>Doesn’t solve the too many variables problem</a:t>
            </a:r>
          </a:p>
          <a:p>
            <a:endParaRPr lang="en-US" dirty="0"/>
          </a:p>
        </p:txBody>
      </p:sp>
    </p:spTree>
    <p:extLst>
      <p:ext uri="{BB962C8B-B14F-4D97-AF65-F5344CB8AC3E}">
        <p14:creationId xmlns:p14="http://schemas.microsoft.com/office/powerpoint/2010/main" val="352020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2DDD-DCD3-9A20-C68F-CBCFB6604925}"/>
              </a:ext>
            </a:extLst>
          </p:cNvPr>
          <p:cNvSpPr>
            <a:spLocks noGrp="1"/>
          </p:cNvSpPr>
          <p:nvPr>
            <p:ph type="title"/>
          </p:nvPr>
        </p:nvSpPr>
        <p:spPr/>
        <p:txBody>
          <a:bodyPr/>
          <a:lstStyle/>
          <a:p>
            <a:r>
              <a:rPr lang="en-US" dirty="0"/>
              <a:t>Approaches to model selection: </a:t>
            </a:r>
            <a:br>
              <a:rPr lang="en-US" dirty="0"/>
            </a:br>
            <a:r>
              <a:rPr lang="en-US" dirty="0"/>
              <a:t>Stepwise Selection</a:t>
            </a:r>
          </a:p>
        </p:txBody>
      </p:sp>
      <p:sp>
        <p:nvSpPr>
          <p:cNvPr id="3" name="Content Placeholder 2">
            <a:extLst>
              <a:ext uri="{FF2B5EF4-FFF2-40B4-BE49-F238E27FC236}">
                <a16:creationId xmlns:a16="http://schemas.microsoft.com/office/drawing/2014/main" id="{B1CFEA81-88BA-D901-ABD9-FB17D8F1182A}"/>
              </a:ext>
            </a:extLst>
          </p:cNvPr>
          <p:cNvSpPr>
            <a:spLocks noGrp="1"/>
          </p:cNvSpPr>
          <p:nvPr>
            <p:ph sz="half" idx="1"/>
          </p:nvPr>
        </p:nvSpPr>
        <p:spPr/>
        <p:txBody>
          <a:bodyPr>
            <a:normAutofit/>
          </a:bodyPr>
          <a:lstStyle/>
          <a:p>
            <a:r>
              <a:rPr lang="en-US" b="1" dirty="0"/>
              <a:t>Forward selection</a:t>
            </a:r>
          </a:p>
          <a:p>
            <a:pPr lvl="1"/>
            <a:r>
              <a:rPr lang="en-US" dirty="0"/>
              <a:t>Start with null model → add variables one at a time based on AIC improvement.</a:t>
            </a:r>
          </a:p>
          <a:p>
            <a:r>
              <a:rPr lang="en-US" b="1" dirty="0"/>
              <a:t>Backward selection</a:t>
            </a:r>
          </a:p>
          <a:p>
            <a:pPr lvl="1"/>
            <a:r>
              <a:rPr lang="en-US" dirty="0"/>
              <a:t>Start with full model → remove variables one at a time based on AIC improvement.</a:t>
            </a:r>
          </a:p>
          <a:p>
            <a:endParaRPr lang="en-US" dirty="0"/>
          </a:p>
        </p:txBody>
      </p:sp>
      <p:sp>
        <p:nvSpPr>
          <p:cNvPr id="4" name="Content Placeholder 3">
            <a:extLst>
              <a:ext uri="{FF2B5EF4-FFF2-40B4-BE49-F238E27FC236}">
                <a16:creationId xmlns:a16="http://schemas.microsoft.com/office/drawing/2014/main" id="{78813AC0-9659-FABA-8C03-D8AD58BDFB5A}"/>
              </a:ext>
            </a:extLst>
          </p:cNvPr>
          <p:cNvSpPr>
            <a:spLocks noGrp="1"/>
          </p:cNvSpPr>
          <p:nvPr>
            <p:ph sz="half" idx="2"/>
          </p:nvPr>
        </p:nvSpPr>
        <p:spPr/>
        <p:txBody>
          <a:bodyPr>
            <a:normAutofit/>
          </a:bodyPr>
          <a:lstStyle/>
          <a:p>
            <a:r>
              <a:rPr lang="en-US" b="1" dirty="0"/>
              <a:t>Weaknesses</a:t>
            </a:r>
          </a:p>
          <a:p>
            <a:pPr lvl="1"/>
            <a:r>
              <a:rPr lang="en-US" dirty="0"/>
              <a:t>Greedy algorithm → can get stuck in local minima</a:t>
            </a:r>
          </a:p>
          <a:p>
            <a:pPr lvl="1"/>
            <a:r>
              <a:rPr lang="en-US" dirty="0"/>
              <a:t>Order of entry matters</a:t>
            </a:r>
          </a:p>
          <a:p>
            <a:pPr lvl="1"/>
            <a:r>
              <a:rPr lang="en-US" dirty="0"/>
              <a:t>Doesn’t evaluate the global model landscape</a:t>
            </a:r>
          </a:p>
          <a:p>
            <a:pPr lvl="1"/>
            <a:r>
              <a:rPr lang="en-US" dirty="0"/>
              <a:t>Produces overly optimistic p-values</a:t>
            </a:r>
          </a:p>
          <a:p>
            <a:pPr lvl="1"/>
            <a:r>
              <a:rPr lang="en-US" dirty="0"/>
              <a:t>Inflates Type I error</a:t>
            </a:r>
          </a:p>
          <a:p>
            <a:endParaRPr lang="en-US" dirty="0"/>
          </a:p>
        </p:txBody>
      </p:sp>
      <p:sp>
        <p:nvSpPr>
          <p:cNvPr id="5" name="TextBox 4">
            <a:extLst>
              <a:ext uri="{FF2B5EF4-FFF2-40B4-BE49-F238E27FC236}">
                <a16:creationId xmlns:a16="http://schemas.microsoft.com/office/drawing/2014/main" id="{C2DD16CF-99D7-B6EC-AC76-C43EEF0B0A73}"/>
              </a:ext>
            </a:extLst>
          </p:cNvPr>
          <p:cNvSpPr txBox="1"/>
          <p:nvPr/>
        </p:nvSpPr>
        <p:spPr>
          <a:xfrm>
            <a:off x="2266682" y="5699909"/>
            <a:ext cx="6975371" cy="954107"/>
          </a:xfrm>
          <a:prstGeom prst="rect">
            <a:avLst/>
          </a:prstGeom>
          <a:noFill/>
        </p:spPr>
        <p:txBody>
          <a:bodyPr wrap="none" rtlCol="0">
            <a:spAutoFit/>
          </a:bodyPr>
          <a:lstStyle/>
          <a:p>
            <a:r>
              <a:rPr lang="en-US" sz="2800" b="1" dirty="0">
                <a:solidFill>
                  <a:srgbClr val="FF0000"/>
                </a:solidFill>
              </a:rPr>
              <a:t>Stepwise is </a:t>
            </a:r>
            <a:r>
              <a:rPr lang="en-US" sz="2800" b="1" i="1" dirty="0">
                <a:solidFill>
                  <a:srgbClr val="FF0000"/>
                </a:solidFill>
              </a:rPr>
              <a:t>exploratory</a:t>
            </a:r>
            <a:r>
              <a:rPr lang="en-US" sz="2800" b="1" dirty="0">
                <a:solidFill>
                  <a:srgbClr val="FF0000"/>
                </a:solidFill>
              </a:rPr>
              <a:t>, not confirmatory.</a:t>
            </a:r>
          </a:p>
          <a:p>
            <a:endParaRPr lang="en-US" sz="2800" b="1" dirty="0">
              <a:solidFill>
                <a:srgbClr val="FF0000"/>
              </a:solidFill>
            </a:endParaRPr>
          </a:p>
        </p:txBody>
      </p:sp>
    </p:spTree>
    <p:extLst>
      <p:ext uri="{BB962C8B-B14F-4D97-AF65-F5344CB8AC3E}">
        <p14:creationId xmlns:p14="http://schemas.microsoft.com/office/powerpoint/2010/main" val="245455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493C-7F1C-A692-E118-16CE609EA848}"/>
              </a:ext>
            </a:extLst>
          </p:cNvPr>
          <p:cNvSpPr>
            <a:spLocks noGrp="1"/>
          </p:cNvSpPr>
          <p:nvPr>
            <p:ph type="title"/>
          </p:nvPr>
        </p:nvSpPr>
        <p:spPr/>
        <p:txBody>
          <a:bodyPr/>
          <a:lstStyle/>
          <a:p>
            <a:r>
              <a:rPr lang="en-US" dirty="0"/>
              <a:t>Approaches to model selection:</a:t>
            </a:r>
            <a:br>
              <a:rPr lang="en-US" dirty="0"/>
            </a:br>
            <a:r>
              <a:rPr lang="en-US" dirty="0"/>
              <a:t>Dredge </a:t>
            </a:r>
          </a:p>
        </p:txBody>
      </p:sp>
      <p:sp>
        <p:nvSpPr>
          <p:cNvPr id="3" name="Content Placeholder 2">
            <a:extLst>
              <a:ext uri="{FF2B5EF4-FFF2-40B4-BE49-F238E27FC236}">
                <a16:creationId xmlns:a16="http://schemas.microsoft.com/office/drawing/2014/main" id="{8523FB0D-578A-78E9-6837-A96F63A77512}"/>
              </a:ext>
            </a:extLst>
          </p:cNvPr>
          <p:cNvSpPr>
            <a:spLocks noGrp="1"/>
          </p:cNvSpPr>
          <p:nvPr>
            <p:ph sz="half" idx="1"/>
          </p:nvPr>
        </p:nvSpPr>
        <p:spPr/>
        <p:txBody>
          <a:bodyPr>
            <a:normAutofit/>
          </a:bodyPr>
          <a:lstStyle/>
          <a:p>
            <a:pPr>
              <a:buFont typeface="Arial" panose="020B0604020202020204" pitchFamily="34" charset="0"/>
              <a:buChar char="•"/>
            </a:pPr>
            <a:r>
              <a:rPr lang="en-US" dirty="0"/>
              <a:t>Enumerates</a:t>
            </a:r>
            <a:r>
              <a:rPr lang="en-US" b="1" dirty="0">
                <a:solidFill>
                  <a:srgbClr val="FF0000"/>
                </a:solidFill>
              </a:rPr>
              <a:t> all </a:t>
            </a:r>
            <a:r>
              <a:rPr lang="en-US" dirty="0"/>
              <a:t>models</a:t>
            </a:r>
          </a:p>
          <a:p>
            <a:pPr>
              <a:buFont typeface="Arial" panose="020B0604020202020204" pitchFamily="34" charset="0"/>
              <a:buChar char="•"/>
            </a:pPr>
            <a:r>
              <a:rPr lang="en-US" dirty="0"/>
              <a:t>Ranks by AIC</a:t>
            </a:r>
          </a:p>
          <a:p>
            <a:pPr>
              <a:buFont typeface="Arial" panose="020B0604020202020204" pitchFamily="34" charset="0"/>
              <a:buChar char="•"/>
            </a:pPr>
            <a:r>
              <a:rPr lang="en-US" dirty="0"/>
              <a:t>Gives model weights, </a:t>
            </a:r>
            <a:r>
              <a:rPr lang="el-GR" dirty="0"/>
              <a:t>Δ</a:t>
            </a:r>
            <a:r>
              <a:rPr lang="en-US" dirty="0"/>
              <a:t>AIC, importance scores</a:t>
            </a:r>
          </a:p>
          <a:p>
            <a:r>
              <a:rPr lang="en-US" b="1" dirty="0"/>
              <a:t>Strengths:</a:t>
            </a:r>
            <a:endParaRPr lang="en-US" dirty="0"/>
          </a:p>
          <a:p>
            <a:pPr>
              <a:buFont typeface="Arial" panose="020B0604020202020204" pitchFamily="34" charset="0"/>
              <a:buChar char="•"/>
            </a:pPr>
            <a:r>
              <a:rPr lang="en-US" dirty="0"/>
              <a:t>Globally explores model space</a:t>
            </a:r>
          </a:p>
          <a:p>
            <a:pPr>
              <a:buFont typeface="Arial" panose="020B0604020202020204" pitchFamily="34" charset="0"/>
              <a:buChar char="•"/>
            </a:pPr>
            <a:r>
              <a:rPr lang="en-US" dirty="0"/>
              <a:t>Transparent</a:t>
            </a:r>
          </a:p>
          <a:p>
            <a:pPr>
              <a:buFont typeface="Arial" panose="020B0604020202020204" pitchFamily="34" charset="0"/>
              <a:buChar char="•"/>
            </a:pPr>
            <a:r>
              <a:rPr lang="en-US" dirty="0"/>
              <a:t>Helps with prediction</a:t>
            </a:r>
          </a:p>
          <a:p>
            <a:endParaRPr lang="en-US" dirty="0"/>
          </a:p>
        </p:txBody>
      </p:sp>
      <p:sp>
        <p:nvSpPr>
          <p:cNvPr id="4" name="Content Placeholder 3">
            <a:extLst>
              <a:ext uri="{FF2B5EF4-FFF2-40B4-BE49-F238E27FC236}">
                <a16:creationId xmlns:a16="http://schemas.microsoft.com/office/drawing/2014/main" id="{2B6C847B-1603-9CBF-9B64-027B2AB13709}"/>
              </a:ext>
            </a:extLst>
          </p:cNvPr>
          <p:cNvSpPr>
            <a:spLocks noGrp="1"/>
          </p:cNvSpPr>
          <p:nvPr>
            <p:ph sz="half" idx="2"/>
          </p:nvPr>
        </p:nvSpPr>
        <p:spPr/>
        <p:txBody>
          <a:bodyPr>
            <a:normAutofit/>
          </a:bodyPr>
          <a:lstStyle/>
          <a:p>
            <a:r>
              <a:rPr lang="en-US" b="1" dirty="0"/>
              <a:t>Weaknesses:</a:t>
            </a:r>
            <a:endParaRPr lang="en-US" dirty="0"/>
          </a:p>
          <a:p>
            <a:pPr>
              <a:buFont typeface="Arial" panose="020B0604020202020204" pitchFamily="34" charset="0"/>
              <a:buChar char="•"/>
            </a:pPr>
            <a:r>
              <a:rPr lang="en-US" dirty="0"/>
              <a:t>Still </a:t>
            </a:r>
            <a:r>
              <a:rPr lang="en-US" b="1" dirty="0">
                <a:solidFill>
                  <a:srgbClr val="FF0000"/>
                </a:solidFill>
              </a:rPr>
              <a:t>exploratory</a:t>
            </a:r>
          </a:p>
          <a:p>
            <a:pPr>
              <a:buFont typeface="Arial" panose="020B0604020202020204" pitchFamily="34" charset="0"/>
              <a:buChar char="•"/>
            </a:pPr>
            <a:r>
              <a:rPr lang="en-US" dirty="0"/>
              <a:t>Greatly inflates risk of overfitting when # of predictors &gt; 5 or so</a:t>
            </a:r>
          </a:p>
          <a:p>
            <a:pPr>
              <a:buFont typeface="Arial" panose="020B0604020202020204" pitchFamily="34" charset="0"/>
              <a:buChar char="•"/>
            </a:pPr>
            <a:r>
              <a:rPr lang="en-US" dirty="0"/>
              <a:t>Doesn’t protect causal inference</a:t>
            </a:r>
          </a:p>
          <a:p>
            <a:pPr>
              <a:buFont typeface="Arial" panose="020B0604020202020204" pitchFamily="34" charset="0"/>
              <a:buChar char="•"/>
            </a:pPr>
            <a:r>
              <a:rPr lang="en-US" dirty="0"/>
              <a:t>Can select variables with no real effect</a:t>
            </a:r>
          </a:p>
          <a:p>
            <a:endParaRPr lang="en-US" dirty="0"/>
          </a:p>
        </p:txBody>
      </p:sp>
    </p:spTree>
    <p:extLst>
      <p:ext uri="{BB962C8B-B14F-4D97-AF65-F5344CB8AC3E}">
        <p14:creationId xmlns:p14="http://schemas.microsoft.com/office/powerpoint/2010/main" val="2980607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28D1A-2916-45E3-1686-99719C545DF8}"/>
              </a:ext>
            </a:extLst>
          </p:cNvPr>
          <p:cNvSpPr>
            <a:spLocks noGrp="1"/>
          </p:cNvSpPr>
          <p:nvPr>
            <p:ph type="title"/>
          </p:nvPr>
        </p:nvSpPr>
        <p:spPr/>
        <p:txBody>
          <a:bodyPr/>
          <a:lstStyle/>
          <a:p>
            <a:r>
              <a:rPr lang="en-US" dirty="0"/>
              <a:t>Model Averaging</a:t>
            </a:r>
          </a:p>
        </p:txBody>
      </p:sp>
      <p:sp>
        <p:nvSpPr>
          <p:cNvPr id="3" name="Content Placeholder 2">
            <a:extLst>
              <a:ext uri="{FF2B5EF4-FFF2-40B4-BE49-F238E27FC236}">
                <a16:creationId xmlns:a16="http://schemas.microsoft.com/office/drawing/2014/main" id="{522703EA-3B74-56FB-C2DC-F865F3C50D68}"/>
              </a:ext>
            </a:extLst>
          </p:cNvPr>
          <p:cNvSpPr>
            <a:spLocks noGrp="1"/>
          </p:cNvSpPr>
          <p:nvPr>
            <p:ph sz="half" idx="1"/>
          </p:nvPr>
        </p:nvSpPr>
        <p:spPr>
          <a:xfrm>
            <a:off x="838200" y="1690688"/>
            <a:ext cx="5181600" cy="4486275"/>
          </a:xfrm>
        </p:spPr>
        <p:txBody>
          <a:bodyPr>
            <a:normAutofit lnSpcReduction="10000"/>
          </a:bodyPr>
          <a:lstStyle/>
          <a:p>
            <a:pPr>
              <a:buFont typeface="Arial" panose="020B0604020202020204" pitchFamily="34" charset="0"/>
              <a:buChar char="•"/>
            </a:pPr>
            <a:r>
              <a:rPr lang="en-US" dirty="0"/>
              <a:t>Competing top models with very close AIC scores </a:t>
            </a:r>
          </a:p>
          <a:p>
            <a:pPr>
              <a:buFont typeface="Arial" panose="020B0604020202020204" pitchFamily="34" charset="0"/>
              <a:buChar char="•"/>
            </a:pPr>
            <a:r>
              <a:rPr lang="en-US" dirty="0"/>
              <a:t>Model averaging = weighted averaging of parameter estimates across plausible models</a:t>
            </a:r>
          </a:p>
          <a:p>
            <a:r>
              <a:rPr lang="en-US" b="1" dirty="0"/>
              <a:t>✔ Model averaging helps prediction</a:t>
            </a:r>
          </a:p>
          <a:p>
            <a:pPr>
              <a:buFont typeface="Arial" panose="020B0604020202020204" pitchFamily="34" charset="0"/>
              <a:buChar char="•"/>
            </a:pPr>
            <a:r>
              <a:rPr lang="en-US" dirty="0"/>
              <a:t>Reduces variance</a:t>
            </a:r>
          </a:p>
          <a:p>
            <a:pPr>
              <a:buFont typeface="Arial" panose="020B0604020202020204" pitchFamily="34" charset="0"/>
              <a:buChar char="•"/>
            </a:pPr>
            <a:r>
              <a:rPr lang="en-US" dirty="0"/>
              <a:t>Uses information from multiple plausible models</a:t>
            </a:r>
          </a:p>
        </p:txBody>
      </p:sp>
      <p:sp>
        <p:nvSpPr>
          <p:cNvPr id="4" name="Content Placeholder 3">
            <a:extLst>
              <a:ext uri="{FF2B5EF4-FFF2-40B4-BE49-F238E27FC236}">
                <a16:creationId xmlns:a16="http://schemas.microsoft.com/office/drawing/2014/main" id="{31BE816A-ADDE-FA2A-F381-4DE8F3804001}"/>
              </a:ext>
            </a:extLst>
          </p:cNvPr>
          <p:cNvSpPr>
            <a:spLocks noGrp="1"/>
          </p:cNvSpPr>
          <p:nvPr>
            <p:ph sz="half" idx="2"/>
          </p:nvPr>
        </p:nvSpPr>
        <p:spPr/>
        <p:txBody>
          <a:bodyPr>
            <a:normAutofit lnSpcReduction="10000"/>
          </a:bodyPr>
          <a:lstStyle/>
          <a:p>
            <a:r>
              <a:rPr lang="en-US" b="1" dirty="0"/>
              <a:t>✘ Model averaging does </a:t>
            </a:r>
            <a:r>
              <a:rPr lang="en-US" b="1" i="1" dirty="0"/>
              <a:t>not</a:t>
            </a:r>
            <a:r>
              <a:rPr lang="en-US" b="1" dirty="0"/>
              <a:t> necessarily improve hypothesis confirmation because:</a:t>
            </a:r>
          </a:p>
          <a:p>
            <a:pPr>
              <a:buFont typeface="Arial" panose="020B0604020202020204" pitchFamily="34" charset="0"/>
              <a:buChar char="•"/>
            </a:pPr>
            <a:r>
              <a:rPr lang="en-US" dirty="0"/>
              <a:t>Variable importance depends on model set</a:t>
            </a:r>
          </a:p>
          <a:p>
            <a:pPr>
              <a:buFont typeface="Arial" panose="020B0604020202020204" pitchFamily="34" charset="0"/>
              <a:buChar char="•"/>
            </a:pPr>
            <a:r>
              <a:rPr lang="en-US" dirty="0"/>
              <a:t>Parameter estimates may shrink toward zero</a:t>
            </a:r>
          </a:p>
          <a:p>
            <a:pPr>
              <a:buFont typeface="Arial" panose="020B0604020202020204" pitchFamily="34" charset="0"/>
              <a:buChar char="•"/>
            </a:pPr>
            <a:r>
              <a:rPr lang="en-US" dirty="0"/>
              <a:t>Averaging can obscure causal interpretation</a:t>
            </a:r>
          </a:p>
          <a:p>
            <a:endParaRPr lang="en-US" dirty="0"/>
          </a:p>
        </p:txBody>
      </p:sp>
    </p:spTree>
    <p:extLst>
      <p:ext uri="{BB962C8B-B14F-4D97-AF65-F5344CB8AC3E}">
        <p14:creationId xmlns:p14="http://schemas.microsoft.com/office/powerpoint/2010/main" val="1652317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DE723CD-A08A-B073-F265-45CD3FD4EE76}"/>
              </a:ext>
            </a:extLst>
          </p:cNvPr>
          <p:cNvSpPr>
            <a:spLocks noGrp="1"/>
          </p:cNvSpPr>
          <p:nvPr>
            <p:ph type="title"/>
          </p:nvPr>
        </p:nvSpPr>
        <p:spPr/>
        <p:txBody>
          <a:bodyPr/>
          <a:lstStyle/>
          <a:p>
            <a:r>
              <a:rPr lang="en-US" dirty="0"/>
              <a:t>Two types of statistical analysis: </a:t>
            </a:r>
          </a:p>
        </p:txBody>
      </p:sp>
      <p:graphicFrame>
        <p:nvGraphicFramePr>
          <p:cNvPr id="8" name="Table 7">
            <a:extLst>
              <a:ext uri="{FF2B5EF4-FFF2-40B4-BE49-F238E27FC236}">
                <a16:creationId xmlns:a16="http://schemas.microsoft.com/office/drawing/2014/main" id="{4CDDEECF-28ED-B077-C2DB-EE9419223EE5}"/>
              </a:ext>
            </a:extLst>
          </p:cNvPr>
          <p:cNvGraphicFramePr>
            <a:graphicFrameLocks noGrp="1"/>
          </p:cNvGraphicFramePr>
          <p:nvPr>
            <p:extLst>
              <p:ext uri="{D42A27DB-BD31-4B8C-83A1-F6EECF244321}">
                <p14:modId xmlns:p14="http://schemas.microsoft.com/office/powerpoint/2010/main" val="1202016930"/>
              </p:ext>
            </p:extLst>
          </p:nvPr>
        </p:nvGraphicFramePr>
        <p:xfrm>
          <a:off x="583324" y="1513490"/>
          <a:ext cx="11004330" cy="4587764"/>
        </p:xfrm>
        <a:graphic>
          <a:graphicData uri="http://schemas.openxmlformats.org/drawingml/2006/table">
            <a:tbl>
              <a:tblPr/>
              <a:tblGrid>
                <a:gridCol w="1481959">
                  <a:extLst>
                    <a:ext uri="{9D8B030D-6E8A-4147-A177-3AD203B41FA5}">
                      <a16:colId xmlns:a16="http://schemas.microsoft.com/office/drawing/2014/main" val="2980560331"/>
                    </a:ext>
                  </a:extLst>
                </a:gridCol>
                <a:gridCol w="4572000">
                  <a:extLst>
                    <a:ext uri="{9D8B030D-6E8A-4147-A177-3AD203B41FA5}">
                      <a16:colId xmlns:a16="http://schemas.microsoft.com/office/drawing/2014/main" val="2041635858"/>
                    </a:ext>
                  </a:extLst>
                </a:gridCol>
                <a:gridCol w="4950371">
                  <a:extLst>
                    <a:ext uri="{9D8B030D-6E8A-4147-A177-3AD203B41FA5}">
                      <a16:colId xmlns:a16="http://schemas.microsoft.com/office/drawing/2014/main" val="3232820089"/>
                    </a:ext>
                  </a:extLst>
                </a:gridCol>
              </a:tblGrid>
              <a:tr h="509752">
                <a:tc>
                  <a:txBody>
                    <a:bodyPr/>
                    <a:lstStyle/>
                    <a:p>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a:t>Confirmatory</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a:t>Exploratory</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0072025"/>
                  </a:ext>
                </a:extLst>
              </a:tr>
              <a:tr h="892065">
                <a:tc>
                  <a:txBody>
                    <a:bodyPr/>
                    <a:lstStyle/>
                    <a:p>
                      <a:r>
                        <a:rPr lang="en-US" sz="2400" dirty="0"/>
                        <a:t>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t>Test a specific hypothesis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t>Identify patterns OR best predictive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3102600"/>
                  </a:ext>
                </a:extLst>
              </a:tr>
              <a:tr h="892065">
                <a:tc>
                  <a:txBody>
                    <a:bodyPr/>
                    <a:lstStyle/>
                    <a:p>
                      <a:r>
                        <a:rPr lang="en-US" sz="2400" dirty="0"/>
                        <a:t>Basis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t>Strong theory / DAG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t>Weak theory / many plausible predictors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0501142"/>
                  </a:ext>
                </a:extLst>
              </a:tr>
              <a:tr h="892065">
                <a:tc>
                  <a:txBody>
                    <a:bodyPr/>
                    <a:lstStyle/>
                    <a:p>
                      <a:r>
                        <a:rPr lang="en-US" sz="2400" dirty="0"/>
                        <a:t>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t>Single-model inference, p-values, CIs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t>AIC, cross-validation, stepwise, dredge, model averaging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4352480"/>
                  </a:ext>
                </a:extLst>
              </a:tr>
              <a:tr h="509752">
                <a:tc>
                  <a:txBody>
                    <a:bodyPr/>
                    <a:lstStyle/>
                    <a:p>
                      <a:r>
                        <a:rPr lang="en-US" sz="2400" dirty="0"/>
                        <a:t>Risks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t>Model mis-specification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t>Overfitting, p-hacking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9000685"/>
                  </a:ext>
                </a:extLst>
              </a:tr>
              <a:tr h="892065">
                <a:tc>
                  <a:txBody>
                    <a:bodyPr/>
                    <a:lstStyle/>
                    <a:p>
                      <a:r>
                        <a:rPr lang="en-US" sz="2400" dirty="0"/>
                        <a:t>Best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t>Causal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t>Prediction / hypothesis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0744545"/>
                  </a:ext>
                </a:extLst>
              </a:tr>
            </a:tbl>
          </a:graphicData>
        </a:graphic>
      </p:graphicFrame>
      <p:sp>
        <p:nvSpPr>
          <p:cNvPr id="9" name="TextBox 8">
            <a:extLst>
              <a:ext uri="{FF2B5EF4-FFF2-40B4-BE49-F238E27FC236}">
                <a16:creationId xmlns:a16="http://schemas.microsoft.com/office/drawing/2014/main" id="{F5D436F2-5DCA-9B98-577B-467F668087F8}"/>
              </a:ext>
            </a:extLst>
          </p:cNvPr>
          <p:cNvSpPr txBox="1"/>
          <p:nvPr/>
        </p:nvSpPr>
        <p:spPr>
          <a:xfrm>
            <a:off x="670893" y="6308209"/>
            <a:ext cx="10850214" cy="369332"/>
          </a:xfrm>
          <a:prstGeom prst="rect">
            <a:avLst/>
          </a:prstGeom>
          <a:noFill/>
        </p:spPr>
        <p:txBody>
          <a:bodyPr wrap="none" rtlCol="0">
            <a:spAutoFit/>
          </a:bodyPr>
          <a:lstStyle/>
          <a:p>
            <a:r>
              <a:rPr lang="en-US" b="1" dirty="0">
                <a:solidFill>
                  <a:srgbClr val="FF0000"/>
                </a:solidFill>
              </a:rPr>
              <a:t>You can combine both! DAG for main hypotheses and model exploration for other potential covariates. </a:t>
            </a:r>
          </a:p>
        </p:txBody>
      </p:sp>
    </p:spTree>
    <p:extLst>
      <p:ext uri="{BB962C8B-B14F-4D97-AF65-F5344CB8AC3E}">
        <p14:creationId xmlns:p14="http://schemas.microsoft.com/office/powerpoint/2010/main" val="113255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B42D-27D0-77EF-83F2-1DC4AF4D7842}"/>
              </a:ext>
            </a:extLst>
          </p:cNvPr>
          <p:cNvSpPr>
            <a:spLocks noGrp="1"/>
          </p:cNvSpPr>
          <p:nvPr>
            <p:ph type="title"/>
          </p:nvPr>
        </p:nvSpPr>
        <p:spPr/>
        <p:txBody>
          <a:bodyPr/>
          <a:lstStyle/>
          <a:p>
            <a:r>
              <a:rPr lang="en-US" dirty="0"/>
              <a:t>When to use what? </a:t>
            </a:r>
          </a:p>
        </p:txBody>
      </p:sp>
      <p:sp>
        <p:nvSpPr>
          <p:cNvPr id="3" name="Content Placeholder 2">
            <a:extLst>
              <a:ext uri="{FF2B5EF4-FFF2-40B4-BE49-F238E27FC236}">
                <a16:creationId xmlns:a16="http://schemas.microsoft.com/office/drawing/2014/main" id="{B0717044-5E8C-5C69-34C5-7C1047CFDEDE}"/>
              </a:ext>
            </a:extLst>
          </p:cNvPr>
          <p:cNvSpPr>
            <a:spLocks noGrp="1"/>
          </p:cNvSpPr>
          <p:nvPr>
            <p:ph sz="half" idx="1"/>
          </p:nvPr>
        </p:nvSpPr>
        <p:spPr>
          <a:xfrm>
            <a:off x="365234" y="1825625"/>
            <a:ext cx="3623441" cy="4667250"/>
          </a:xfrm>
        </p:spPr>
        <p:txBody>
          <a:bodyPr>
            <a:normAutofit fontScale="92500" lnSpcReduction="10000"/>
          </a:bodyPr>
          <a:lstStyle/>
          <a:p>
            <a:r>
              <a:rPr lang="en-US" b="1" dirty="0"/>
              <a:t>Use A Priori / Confirmatory Modeling When:</a:t>
            </a:r>
          </a:p>
          <a:p>
            <a:pPr>
              <a:buFont typeface="Arial" panose="020B0604020202020204" pitchFamily="34" charset="0"/>
              <a:buChar char="•"/>
            </a:pPr>
            <a:r>
              <a:rPr lang="en-US" dirty="0"/>
              <a:t>You have theory</a:t>
            </a:r>
          </a:p>
          <a:p>
            <a:pPr>
              <a:buFont typeface="Arial" panose="020B0604020202020204" pitchFamily="34" charset="0"/>
              <a:buChar char="•"/>
            </a:pPr>
            <a:r>
              <a:rPr lang="en-US" dirty="0"/>
              <a:t>You built a DAG</a:t>
            </a:r>
          </a:p>
          <a:p>
            <a:pPr>
              <a:buFont typeface="Arial" panose="020B0604020202020204" pitchFamily="34" charset="0"/>
              <a:buChar char="•"/>
            </a:pPr>
            <a:r>
              <a:rPr lang="en-US" dirty="0"/>
              <a:t>You’re testing specific biological hypotheses</a:t>
            </a:r>
          </a:p>
          <a:p>
            <a:pPr>
              <a:buFont typeface="Arial" panose="020B0604020202020204" pitchFamily="34" charset="0"/>
              <a:buChar char="•"/>
            </a:pPr>
            <a:r>
              <a:rPr lang="en-US" dirty="0"/>
              <a:t>The goal is causal inference</a:t>
            </a:r>
          </a:p>
          <a:p>
            <a:endParaRPr lang="en-US" dirty="0"/>
          </a:p>
        </p:txBody>
      </p:sp>
      <p:sp>
        <p:nvSpPr>
          <p:cNvPr id="4" name="Content Placeholder 3">
            <a:extLst>
              <a:ext uri="{FF2B5EF4-FFF2-40B4-BE49-F238E27FC236}">
                <a16:creationId xmlns:a16="http://schemas.microsoft.com/office/drawing/2014/main" id="{44300CAF-84D7-845B-47AE-3ECCDC2ADDA7}"/>
              </a:ext>
            </a:extLst>
          </p:cNvPr>
          <p:cNvSpPr>
            <a:spLocks noGrp="1"/>
          </p:cNvSpPr>
          <p:nvPr>
            <p:ph sz="half" idx="2"/>
          </p:nvPr>
        </p:nvSpPr>
        <p:spPr>
          <a:xfrm>
            <a:off x="3988675" y="1825625"/>
            <a:ext cx="3846787" cy="4351338"/>
          </a:xfrm>
        </p:spPr>
        <p:txBody>
          <a:bodyPr>
            <a:normAutofit fontScale="92500" lnSpcReduction="10000"/>
          </a:bodyPr>
          <a:lstStyle/>
          <a:p>
            <a:r>
              <a:rPr lang="en-US" b="1" dirty="0"/>
              <a:t>Use Model Selection / AIC When:</a:t>
            </a:r>
          </a:p>
          <a:p>
            <a:pPr>
              <a:buFont typeface="Arial" panose="020B0604020202020204" pitchFamily="34" charset="0"/>
              <a:buChar char="•"/>
            </a:pPr>
            <a:r>
              <a:rPr lang="en-US" dirty="0"/>
              <a:t>You are unsure which controls matter</a:t>
            </a:r>
          </a:p>
          <a:p>
            <a:pPr>
              <a:buFont typeface="Arial" panose="020B0604020202020204" pitchFamily="34" charset="0"/>
              <a:buChar char="•"/>
            </a:pPr>
            <a:r>
              <a:rPr lang="en-US" dirty="0"/>
              <a:t>You want predictive accuracy</a:t>
            </a:r>
          </a:p>
          <a:p>
            <a:pPr>
              <a:buFont typeface="Arial" panose="020B0604020202020204" pitchFamily="34" charset="0"/>
              <a:buChar char="•"/>
            </a:pPr>
            <a:r>
              <a:rPr lang="en-US" dirty="0"/>
              <a:t>The research is descriptive, exploratory, or pattern-oriented</a:t>
            </a:r>
          </a:p>
          <a:p>
            <a:pPr>
              <a:buFont typeface="Arial" panose="020B0604020202020204" pitchFamily="34" charset="0"/>
              <a:buChar char="•"/>
            </a:pPr>
            <a:r>
              <a:rPr lang="en-US" dirty="0"/>
              <a:t>You’re not making causal claims</a:t>
            </a:r>
          </a:p>
          <a:p>
            <a:endParaRPr lang="en-US" dirty="0"/>
          </a:p>
        </p:txBody>
      </p:sp>
      <p:sp>
        <p:nvSpPr>
          <p:cNvPr id="5" name="TextBox 4">
            <a:extLst>
              <a:ext uri="{FF2B5EF4-FFF2-40B4-BE49-F238E27FC236}">
                <a16:creationId xmlns:a16="http://schemas.microsoft.com/office/drawing/2014/main" id="{DD542038-BC97-3CC4-2975-91530F80BFBA}"/>
              </a:ext>
            </a:extLst>
          </p:cNvPr>
          <p:cNvSpPr txBox="1"/>
          <p:nvPr/>
        </p:nvSpPr>
        <p:spPr>
          <a:xfrm>
            <a:off x="8203327" y="1825625"/>
            <a:ext cx="3623439" cy="3293209"/>
          </a:xfrm>
          <a:prstGeom prst="rect">
            <a:avLst/>
          </a:prstGeom>
          <a:noFill/>
        </p:spPr>
        <p:txBody>
          <a:bodyPr wrap="square" rtlCol="0">
            <a:spAutoFit/>
          </a:bodyPr>
          <a:lstStyle/>
          <a:p>
            <a:r>
              <a:rPr lang="en-US" sz="2600" b="1" dirty="0"/>
              <a:t>Use Model Averaging When:</a:t>
            </a:r>
          </a:p>
          <a:p>
            <a:pPr>
              <a:buFont typeface="Arial" panose="020B0604020202020204" pitchFamily="34" charset="0"/>
              <a:buChar char="•"/>
            </a:pPr>
            <a:r>
              <a:rPr lang="en-US" sz="2600" dirty="0"/>
              <a:t>Models differ by only a few predictors</a:t>
            </a:r>
          </a:p>
          <a:p>
            <a:pPr>
              <a:buFont typeface="Arial" panose="020B0604020202020204" pitchFamily="34" charset="0"/>
              <a:buChar char="•"/>
            </a:pPr>
            <a:r>
              <a:rPr lang="el-GR" sz="2600" dirty="0"/>
              <a:t>Δ</a:t>
            </a:r>
            <a:r>
              <a:rPr lang="en-US" sz="2600" dirty="0"/>
              <a:t>AIC &lt; 2 for many models</a:t>
            </a:r>
          </a:p>
          <a:p>
            <a:pPr>
              <a:buFont typeface="Arial" panose="020B0604020202020204" pitchFamily="34" charset="0"/>
              <a:buChar char="•"/>
            </a:pPr>
            <a:r>
              <a:rPr lang="en-US" sz="2600" dirty="0"/>
              <a:t>Prediction is your goal</a:t>
            </a:r>
          </a:p>
          <a:p>
            <a:endParaRPr lang="en-US" sz="2600" dirty="0"/>
          </a:p>
        </p:txBody>
      </p:sp>
    </p:spTree>
    <p:extLst>
      <p:ext uri="{BB962C8B-B14F-4D97-AF65-F5344CB8AC3E}">
        <p14:creationId xmlns:p14="http://schemas.microsoft.com/office/powerpoint/2010/main" val="285676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678F-C7BC-74DC-0A5B-EF640A0FE85A}"/>
              </a:ext>
            </a:extLst>
          </p:cNvPr>
          <p:cNvSpPr>
            <a:spLocks noGrp="1"/>
          </p:cNvSpPr>
          <p:nvPr>
            <p:ph type="title"/>
          </p:nvPr>
        </p:nvSpPr>
        <p:spPr/>
        <p:txBody>
          <a:bodyPr/>
          <a:lstStyle/>
          <a:p>
            <a:r>
              <a:rPr lang="en-US" dirty="0"/>
              <a:t>Standardizing Predictors</a:t>
            </a:r>
          </a:p>
        </p:txBody>
      </p:sp>
      <p:sp>
        <p:nvSpPr>
          <p:cNvPr id="5" name="Content Placeholder 4">
            <a:extLst>
              <a:ext uri="{FF2B5EF4-FFF2-40B4-BE49-F238E27FC236}">
                <a16:creationId xmlns:a16="http://schemas.microsoft.com/office/drawing/2014/main" id="{BD525BC5-7082-1825-1EA7-1B47217642BA}"/>
              </a:ext>
            </a:extLst>
          </p:cNvPr>
          <p:cNvSpPr>
            <a:spLocks noGrp="1"/>
          </p:cNvSpPr>
          <p:nvPr>
            <p:ph idx="1"/>
          </p:nvPr>
        </p:nvSpPr>
        <p:spPr/>
        <p:txBody>
          <a:bodyPr>
            <a:normAutofit fontScale="92500" lnSpcReduction="20000"/>
          </a:bodyPr>
          <a:lstStyle/>
          <a:p>
            <a:r>
              <a:rPr lang="en-US" b="1" dirty="0"/>
              <a:t>Centering</a:t>
            </a:r>
            <a:r>
              <a:rPr lang="en-US" dirty="0"/>
              <a:t>: Subtracting the mean from each score so that the data is now ‘centered’ around 0 and the value indicates how many units above or below the mean a score is </a:t>
            </a:r>
          </a:p>
          <a:p>
            <a:r>
              <a:rPr lang="en-US" b="1" dirty="0"/>
              <a:t>Scaling</a:t>
            </a:r>
            <a:r>
              <a:rPr lang="en-US" dirty="0"/>
              <a:t>: Rescaling data from raw units to z-scores by dividing by the standard deviation </a:t>
            </a:r>
          </a:p>
          <a:p>
            <a:r>
              <a:rPr lang="en-US" b="1" dirty="0"/>
              <a:t>Benefits:</a:t>
            </a:r>
          </a:p>
          <a:p>
            <a:r>
              <a:rPr lang="en-US" dirty="0"/>
              <a:t>Intercept is more interpretable (0 becomes the mean)</a:t>
            </a:r>
          </a:p>
          <a:p>
            <a:r>
              <a:rPr lang="en-US" dirty="0"/>
              <a:t>Effect size of different predictors is easily comparable as they are all now in the same unit </a:t>
            </a:r>
          </a:p>
          <a:p>
            <a:r>
              <a:rPr lang="en-US" dirty="0"/>
              <a:t>No impact on p–values </a:t>
            </a:r>
          </a:p>
          <a:p>
            <a:r>
              <a:rPr lang="en-US" dirty="0"/>
              <a:t>Can help with model convergence </a:t>
            </a:r>
          </a:p>
        </p:txBody>
      </p:sp>
    </p:spTree>
    <p:extLst>
      <p:ext uri="{BB962C8B-B14F-4D97-AF65-F5344CB8AC3E}">
        <p14:creationId xmlns:p14="http://schemas.microsoft.com/office/powerpoint/2010/main" val="2941136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A4B1-748A-228D-E79A-65C7EFBB308B}"/>
              </a:ext>
            </a:extLst>
          </p:cNvPr>
          <p:cNvSpPr>
            <a:spLocks noGrp="1"/>
          </p:cNvSpPr>
          <p:nvPr>
            <p:ph type="title"/>
          </p:nvPr>
        </p:nvSpPr>
        <p:spPr/>
        <p:txBody>
          <a:bodyPr/>
          <a:lstStyle/>
          <a:p>
            <a:r>
              <a:rPr lang="en-US" dirty="0"/>
              <a:t>Projects + Quiz Next Week</a:t>
            </a:r>
          </a:p>
        </p:txBody>
      </p:sp>
      <p:sp>
        <p:nvSpPr>
          <p:cNvPr id="3" name="Content Placeholder 2">
            <a:extLst>
              <a:ext uri="{FF2B5EF4-FFF2-40B4-BE49-F238E27FC236}">
                <a16:creationId xmlns:a16="http://schemas.microsoft.com/office/drawing/2014/main" id="{958C2230-DC0A-4B14-F109-BAE7D228CF2F}"/>
              </a:ext>
            </a:extLst>
          </p:cNvPr>
          <p:cNvSpPr>
            <a:spLocks noGrp="1"/>
          </p:cNvSpPr>
          <p:nvPr>
            <p:ph idx="1"/>
          </p:nvPr>
        </p:nvSpPr>
        <p:spPr/>
        <p:txBody>
          <a:bodyPr>
            <a:normAutofit fontScale="92500" lnSpcReduction="20000"/>
          </a:bodyPr>
          <a:lstStyle/>
          <a:p>
            <a:r>
              <a:rPr lang="en-US" dirty="0"/>
              <a:t>Make sure to make regular commits to show that you’re working on the project over time</a:t>
            </a:r>
          </a:p>
          <a:p>
            <a:r>
              <a:rPr lang="en-US" dirty="0"/>
              <a:t>Does anyone anticipate using models other than Generalized Linear Mixed Models? </a:t>
            </a:r>
          </a:p>
          <a:p>
            <a:pPr marL="0" indent="0">
              <a:buNone/>
            </a:pPr>
            <a:endParaRPr lang="en-US" dirty="0"/>
          </a:p>
          <a:p>
            <a:r>
              <a:rPr lang="en-US" dirty="0"/>
              <a:t>Quiz 4 next week! Review:</a:t>
            </a:r>
          </a:p>
          <a:p>
            <a:pPr lvl="1"/>
            <a:r>
              <a:rPr lang="en-US" dirty="0"/>
              <a:t>When and why to use a linear mixed model with random effects (LMM)</a:t>
            </a:r>
          </a:p>
          <a:p>
            <a:pPr lvl="1"/>
            <a:r>
              <a:rPr lang="en-US" dirty="0"/>
              <a:t>When and why to use a generalized linear model (GLM) </a:t>
            </a:r>
          </a:p>
          <a:p>
            <a:pPr lvl="2"/>
            <a:r>
              <a:rPr lang="en-US" dirty="0"/>
              <a:t>Poisson VS Binomial VS Beta Regression</a:t>
            </a:r>
          </a:p>
          <a:p>
            <a:pPr lvl="1"/>
            <a:r>
              <a:rPr lang="en-US" dirty="0"/>
              <a:t>Model fit checking: overdispersion and zero-inflation (what are they and how do you fix them?) </a:t>
            </a:r>
          </a:p>
          <a:p>
            <a:pPr lvl="1"/>
            <a:r>
              <a:rPr lang="en-US" dirty="0"/>
              <a:t>When and why to use model selection</a:t>
            </a:r>
          </a:p>
          <a:p>
            <a:pPr lvl="1"/>
            <a:r>
              <a:rPr lang="en-US" dirty="0"/>
              <a:t>When and why to standardize your predictors via scaling and centering </a:t>
            </a:r>
          </a:p>
          <a:p>
            <a:pPr marL="457200" lvl="1" indent="0">
              <a:buNone/>
            </a:pPr>
            <a:endParaRPr lang="en-US" dirty="0"/>
          </a:p>
        </p:txBody>
      </p:sp>
    </p:spTree>
    <p:extLst>
      <p:ext uri="{BB962C8B-B14F-4D97-AF65-F5344CB8AC3E}">
        <p14:creationId xmlns:p14="http://schemas.microsoft.com/office/powerpoint/2010/main" val="1636458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517</TotalTime>
  <Words>1778</Words>
  <Application>Microsoft Macintosh PowerPoint</Application>
  <PresentationFormat>Widescreen</PresentationFormat>
  <Paragraphs>212</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Intro to Model Selection</vt:lpstr>
      <vt:lpstr>Garden of Forking Paths</vt:lpstr>
      <vt:lpstr>P-Hacking</vt:lpstr>
      <vt:lpstr>Many post-data decisions are normal</vt:lpstr>
      <vt:lpstr>Model Selection</vt:lpstr>
      <vt:lpstr>Approaches to model selection:  Confirmatory Analysis</vt:lpstr>
      <vt:lpstr>Approaches to model selection:  Stepwise Selection</vt:lpstr>
      <vt:lpstr>Approaches to model selection: Dredge </vt:lpstr>
      <vt:lpstr>Model Averaging</vt:lpstr>
      <vt:lpstr>Two types of statistical analysis: </vt:lpstr>
      <vt:lpstr>When to use what? </vt:lpstr>
      <vt:lpstr>Standardizing Predictors</vt:lpstr>
      <vt:lpstr>Projects + Quiz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Lily Johnson-Ulrich</dc:creator>
  <cp:lastModifiedBy>Lily Johnson-Ulrich</cp:lastModifiedBy>
  <cp:revision>14</cp:revision>
  <dcterms:created xsi:type="dcterms:W3CDTF">2025-11-20T20:58:22Z</dcterms:created>
  <dcterms:modified xsi:type="dcterms:W3CDTF">2025-11-25T21:29:38Z</dcterms:modified>
</cp:coreProperties>
</file>