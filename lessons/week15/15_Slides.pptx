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61" r:id="rId6"/>
    <p:sldId id="262" r:id="rId7"/>
    <p:sldId id="263" r:id="rId8"/>
    <p:sldId id="259" r:id="rId9"/>
    <p:sldId id="260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87760"/>
  </p:normalViewPr>
  <p:slideViewPr>
    <p:cSldViewPr snapToGrid="0">
      <p:cViewPr varScale="1">
        <p:scale>
          <a:sx n="94" d="100"/>
          <a:sy n="94" d="100"/>
        </p:scale>
        <p:origin x="1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2F6D3-4C17-334D-8110-F2621319D64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08FD4-DE93-A340-B0C3-E2E8D07BC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21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08FD4-DE93-A340-B0C3-E2E8D07BCC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27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who are censored should, on average, have the same future risk as those who remain under observation—assuming they have the same covariate values. So if some individuals have 4 years of data while some individuals were observed out to 6 or 7 years there shouldn’t be any difference in their underlying risk.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08FD4-DE93-A340-B0C3-E2E8D07BCC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23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is based on the </a:t>
            </a:r>
            <a:r>
              <a:rPr lang="en-US" b="1" dirty="0"/>
              <a:t>covariance/correlation matrix</a:t>
            </a:r>
            <a:br>
              <a:rPr lang="en-US" dirty="0"/>
            </a:br>
            <a:r>
              <a:rPr lang="en-US" dirty="0"/>
              <a:t>Key: Represent many variables using a few summary axes that capture the major patterns of variation.</a:t>
            </a:r>
          </a:p>
          <a:p>
            <a:endParaRPr lang="en-US" dirty="0"/>
          </a:p>
          <a:p>
            <a:r>
              <a:rPr lang="en-US" dirty="0"/>
              <a:t>The direction where points vary the </a:t>
            </a:r>
            <a:r>
              <a:rPr lang="en-US" b="1" dirty="0"/>
              <a:t>most</a:t>
            </a:r>
            <a:r>
              <a:rPr lang="en-US" dirty="0"/>
              <a:t> → </a:t>
            </a:r>
            <a:r>
              <a:rPr lang="en-US" b="1" dirty="0"/>
              <a:t>PC1</a:t>
            </a:r>
            <a:endParaRPr lang="en-US" dirty="0"/>
          </a:p>
          <a:p>
            <a:r>
              <a:rPr lang="en-US" dirty="0"/>
              <a:t>The next most-variable direction at </a:t>
            </a:r>
            <a:r>
              <a:rPr lang="en-US" b="1" dirty="0"/>
              <a:t>right angles</a:t>
            </a:r>
            <a:r>
              <a:rPr lang="en-US" dirty="0"/>
              <a:t> → </a:t>
            </a:r>
            <a:r>
              <a:rPr lang="en-US" b="1" dirty="0"/>
              <a:t>PC2</a:t>
            </a:r>
            <a:endParaRPr lang="en-US" dirty="0"/>
          </a:p>
          <a:p>
            <a:r>
              <a:rPr lang="en-US" dirty="0"/>
              <a:t>And so on</a:t>
            </a:r>
            <a:br>
              <a:rPr lang="en-US" dirty="0"/>
            </a:br>
            <a:r>
              <a:rPr lang="en-US" dirty="0"/>
              <a:t>Each PC is a </a:t>
            </a:r>
            <a:r>
              <a:rPr lang="en-US" b="1" dirty="0"/>
              <a:t>weighted combination</a:t>
            </a:r>
            <a:r>
              <a:rPr lang="en-US" dirty="0"/>
              <a:t> of the original variables.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08FD4-DE93-A340-B0C3-E2E8D07BCC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5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F314-125E-DB42-8DA6-978C0AB8D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80A26-BFD8-49AD-25C0-2C35B9629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015E9-7AEF-60A1-6448-3A7B4471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A30E6-FC2C-05A3-ECF9-CE62ED57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EF040-EAE7-93EB-517E-B343FB4A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1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0E6A-A966-5215-9206-96B21256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88BB-9E47-A5AB-F736-8F0692EE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9B1A8-0D83-A9AF-0935-C9EFF25BF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247D-2436-496B-6035-3B808C7D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A6218-04E4-EEC1-BAB5-E7DFC3CEF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56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81C7-1B88-1F12-D589-008C6F73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20E12-FEDD-7660-BE8B-27F25F804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95FEE-3083-0F76-1B92-AB9F8C2C9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73204-DD60-9AA1-E60B-53886778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DE599-34B0-3C57-9CC2-CF22A026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8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B545-0D15-31BA-501B-1565F84E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23B36-B12F-8F4F-C022-F539FB3BD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8A207-7D57-4E67-F244-B7665EB25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8EEBA-6B2F-B7A7-BB38-93B26F424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FAEAA-CE65-8252-2860-ECA18E59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F941A-ED6B-A3D8-449C-4860B31D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1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9925-E40B-2CC9-6935-C281B99C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F6EAF-63A6-F4D5-1DCE-935466580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D7953-A2E9-F879-A10E-1D6D0274F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C6A38D-319B-E061-9816-A0095B34E2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6188C-72C8-07C8-FD74-2AD6A07C5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FB65E-5BDF-3BAB-9DAC-7F80B506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75732-8FF7-EFD2-30DA-E1DDAD04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CC6B39-1FA3-0326-305C-DA0D9D1D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7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B7F43-BC4B-4A37-AEBB-E18FDCB7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AF135A-FC0B-0E5E-BD55-1BB06295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F70B5-9445-664B-4D93-AA967F71A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D5C6B-D087-5773-52EB-988AED466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8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2D1689-C724-CA79-EC44-69348334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B67FB-FBD7-0595-F042-58635409F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334CA-C4A2-A6C5-CEB7-A762296A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7F26-5D37-38CA-F84D-F78FB5AFC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CC6E-B3AF-F502-CABB-BC88AED28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7944E-DEC0-A2D0-13D4-0B74A7494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1162B-F75F-40B0-5B6B-22790A35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B22F1-9DB1-067E-00CF-874BA272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B9BF6-F3F8-6ECD-8EC5-DAAC7C0F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9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01ED-F177-EE18-F845-52F0217B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D11B7-8860-E930-00F0-47BB4C4F2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B4F42-52D1-9344-A6D4-A686F04FE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5FF22-79CD-CECB-5F04-1193C194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8B53D-F94C-0653-D8FE-57593ADA1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6EC41-846C-B339-C60B-9C21C3D3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6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D30F-1B0D-027F-5246-DA97F766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A299B-AD89-C1F4-E65E-522FD20E5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6834D-7113-2E4B-B3A9-59379846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338E3-CB03-425C-4D88-E5759F96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6FEDA-95A6-8CE0-F08E-7A532D19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3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61B3E-1B0C-D8A2-2A26-09E50D9CD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86EE4-EAE5-EE1F-83E6-35AABFC4C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50F89-8A93-40E8-0408-B59135F2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8D3A-6AFE-436A-02CD-84076BB6A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2C3B4-EFE1-288A-C651-A6BCC1E0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4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51F295-E9D0-F61A-4300-CC70213B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E376F-0C46-A7F6-4AA9-6B5F9488F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8CB7A-9F42-15C7-3D27-E74B903F3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16AF5-0A45-054D-A01B-BE9AD2E4A9E8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E2F83-BC30-4EC1-DC23-FBB178785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42EDB-4BAD-1722-83DA-FCFEF22A5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58C74-638A-344E-A46D-F3A6F9A95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4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48F5B5-21E1-7C63-3DCB-F4E48B85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survival analysis?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6FA1C3-C4C4-EE4C-7007-ABB21BE2F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 set of statistical tools for </a:t>
            </a:r>
            <a:r>
              <a:rPr lang="en-US" altLang="en-US" b="1" dirty="0">
                <a:latin typeface="Arial" panose="020B0604020202020204" pitchFamily="34" charset="0"/>
              </a:rPr>
              <a:t>time-to-event data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“Event” can be anything: death, failure, leaving a study site, egg hatching, relapse, solving success, hunt success, etc.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Key feature: </a:t>
            </a:r>
            <a:r>
              <a:rPr lang="en-US" altLang="en-US" b="1" dirty="0">
                <a:latin typeface="Arial" panose="020B0604020202020204" pitchFamily="34" charset="0"/>
              </a:rPr>
              <a:t>Some individuals do not experience the event during the study</a:t>
            </a:r>
            <a:r>
              <a:rPr lang="en-US" altLang="en-US" dirty="0">
                <a:latin typeface="Arial" panose="020B0604020202020204" pitchFamily="34" charset="0"/>
              </a:rPr>
              <a:t> → </a:t>
            </a:r>
            <a:r>
              <a:rPr lang="en-US" altLang="en-US" i="1" dirty="0">
                <a:latin typeface="Arial" panose="020B0604020202020204" pitchFamily="34" charset="0"/>
              </a:rPr>
              <a:t>censoring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Models: Kaplan–Meier, Cox proportional hazards, parametric survival models</a:t>
            </a:r>
          </a:p>
        </p:txBody>
      </p:sp>
    </p:spTree>
    <p:extLst>
      <p:ext uri="{BB962C8B-B14F-4D97-AF65-F5344CB8AC3E}">
        <p14:creationId xmlns:p14="http://schemas.microsoft.com/office/powerpoint/2010/main" val="377845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C8D0-1B85-372D-839E-8CB8A17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survival analysis?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5739-4101-9CAC-A369-B31E2E5DA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Different individuals are followed for </a:t>
            </a:r>
            <a:r>
              <a:rPr lang="en-US" u="sng" dirty="0"/>
              <a:t>different lengths of time</a:t>
            </a:r>
          </a:p>
          <a:p>
            <a:r>
              <a:rPr lang="en-US" dirty="0"/>
              <a:t>Some observations are incomplete (sometimes the event never occurs)</a:t>
            </a:r>
          </a:p>
          <a:p>
            <a:r>
              <a:rPr lang="en-US" dirty="0"/>
              <a:t>You want to compare groups on both the duration/count </a:t>
            </a:r>
            <a:r>
              <a:rPr lang="en-US" b="1" dirty="0"/>
              <a:t>and</a:t>
            </a:r>
            <a:r>
              <a:rPr lang="en-US" dirty="0"/>
              <a:t> whether or not the event occurs!</a:t>
            </a:r>
          </a:p>
          <a:p>
            <a:r>
              <a:rPr lang="en-US" dirty="0"/>
              <a:t>You want to incorporate covariates to understand what speeds/slows the event</a:t>
            </a:r>
          </a:p>
          <a:p>
            <a:r>
              <a:rPr lang="en-US" dirty="0"/>
              <a:t>Avoids treating survival time as a simple continuous variable (with an arbitrary upper limit for those in which the event didn’t occur) OR just using a binary for event (0/1) which doesn’t allow you to analyze the amount of time and how that affects the probability of the event</a:t>
            </a:r>
          </a:p>
          <a:p>
            <a:r>
              <a:rPr lang="en-US" dirty="0"/>
              <a:t>Ignoring censoring (which biases means downward)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81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F6E9-9702-F87F-D6BC-BA0DA397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7CD72-7EFF-4935-ABB5-0B75783BD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Time variable (t)</a:t>
            </a:r>
            <a:br>
              <a:rPr lang="en-US" dirty="0"/>
            </a:br>
            <a:r>
              <a:rPr lang="en-US" dirty="0"/>
              <a:t>Time until event (e.g., days alive, time to desert territory)</a:t>
            </a:r>
          </a:p>
          <a:p>
            <a:r>
              <a:rPr lang="en-US" b="1" dirty="0"/>
              <a:t>Event indicator (1/0)</a:t>
            </a:r>
            <a:br>
              <a:rPr lang="en-US" dirty="0"/>
            </a:br>
            <a:r>
              <a:rPr lang="en-US" dirty="0"/>
              <a:t>1 = event occurred</a:t>
            </a:r>
            <a:br>
              <a:rPr lang="en-US" dirty="0"/>
            </a:br>
            <a:r>
              <a:rPr lang="en-US" dirty="0"/>
              <a:t>0 = censored (still alive, still on territory, etc.)</a:t>
            </a:r>
          </a:p>
          <a:p>
            <a:r>
              <a:rPr lang="en-US" b="1" dirty="0"/>
              <a:t>Censoring</a:t>
            </a:r>
            <a:endParaRPr lang="en-US" dirty="0"/>
          </a:p>
          <a:p>
            <a:r>
              <a:rPr lang="en-US" dirty="0"/>
              <a:t>Right-censoring: most common</a:t>
            </a:r>
          </a:p>
          <a:p>
            <a:r>
              <a:rPr lang="en-US" dirty="0"/>
              <a:t>Occurs when you </a:t>
            </a:r>
            <a:r>
              <a:rPr lang="en-US" i="1" dirty="0"/>
              <a:t>stop observing</a:t>
            </a:r>
            <a:r>
              <a:rPr lang="en-US" dirty="0"/>
              <a:t> before the event</a:t>
            </a:r>
          </a:p>
          <a:p>
            <a:r>
              <a:rPr lang="en-US" dirty="0"/>
              <a:t>Usually by design (collect data for X timespan)</a:t>
            </a:r>
          </a:p>
          <a:p>
            <a:r>
              <a:rPr lang="en-US" b="1" dirty="0"/>
              <a:t>Hazard</a:t>
            </a:r>
            <a:br>
              <a:rPr lang="en-US" dirty="0"/>
            </a:br>
            <a:r>
              <a:rPr lang="en-US" dirty="0"/>
              <a:t>Instantaneous risk of the event at time 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95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3B83-5B35-D21B-1700-51CBD2656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Curves</a:t>
            </a:r>
          </a:p>
        </p:txBody>
      </p:sp>
      <p:pic>
        <p:nvPicPr>
          <p:cNvPr id="3074" name="Picture 2" descr="Survival Analysis">
            <a:extLst>
              <a:ext uri="{FF2B5EF4-FFF2-40B4-BE49-F238E27FC236}">
                <a16:creationId xmlns:a16="http://schemas.microsoft.com/office/drawing/2014/main" id="{05DEA96E-9488-85BB-459F-F70EAD905B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95488"/>
            <a:ext cx="522160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urvival Analysis">
            <a:extLst>
              <a:ext uri="{FF2B5EF4-FFF2-40B4-BE49-F238E27FC236}">
                <a16:creationId xmlns:a16="http://schemas.microsoft.com/office/drawing/2014/main" id="{48530A28-773C-76AF-FFCB-EAB657C1E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43" y="1965326"/>
            <a:ext cx="5257800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5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35593-6EC4-EF18-7E50-05E9B0F8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Curves</a:t>
            </a:r>
          </a:p>
        </p:txBody>
      </p:sp>
      <p:pic>
        <p:nvPicPr>
          <p:cNvPr id="5" name="Content Placeholder 4" descr="A graph of survival curves&#10;&#10;AI-generated content may be incorrect.">
            <a:extLst>
              <a:ext uri="{FF2B5EF4-FFF2-40B4-BE49-F238E27FC236}">
                <a16:creationId xmlns:a16="http://schemas.microsoft.com/office/drawing/2014/main" id="{B2A1D484-BA7B-1A56-2BF5-E883CB02F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60" t="4001" r="3643" b="21881"/>
          <a:stretch>
            <a:fillRect/>
          </a:stretch>
        </p:blipFill>
        <p:spPr>
          <a:xfrm>
            <a:off x="1563915" y="1429870"/>
            <a:ext cx="8001000" cy="5246700"/>
          </a:xfrm>
        </p:spPr>
      </p:pic>
    </p:spTree>
    <p:extLst>
      <p:ext uri="{BB962C8B-B14F-4D97-AF65-F5344CB8AC3E}">
        <p14:creationId xmlns:p14="http://schemas.microsoft.com/office/powerpoint/2010/main" val="220822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A6D48-0033-0E60-7A7C-EADD7946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EEE7-FBD2-729B-DBF5-493B367E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Curves</a:t>
            </a:r>
          </a:p>
        </p:txBody>
      </p:sp>
      <p:pic>
        <p:nvPicPr>
          <p:cNvPr id="7" name="Picture 6" descr="A comparison of a number of objects&#10;&#10;AI-generated content may be incorrect.">
            <a:extLst>
              <a:ext uri="{FF2B5EF4-FFF2-40B4-BE49-F238E27FC236}">
                <a16:creationId xmlns:a16="http://schemas.microsoft.com/office/drawing/2014/main" id="{28801442-C5A9-776B-8406-B50A873D8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42" y="1544268"/>
            <a:ext cx="9381399" cy="494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1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910D8-C503-A575-5D89-92F367A6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902B-6805-B201-1244-3B68610BE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Curves</a:t>
            </a:r>
          </a:p>
        </p:txBody>
      </p:sp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3DEAA46-EDEA-5540-4F41-D050F2FFC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179" y="1468330"/>
            <a:ext cx="8319448" cy="528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6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FC02-5B6A-2D7B-D74A-E6E3ADF0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Proportional Hazards Model</a:t>
            </a: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22B1D09-E8D6-9F87-73C1-6C62E046B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019" y="3960561"/>
            <a:ext cx="2051050" cy="85948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5D7D02-BE96-6E05-692E-1EFCCEDA5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6875"/>
            <a:ext cx="7747000" cy="2286000"/>
          </a:xfrm>
        </p:spPr>
        <p:txBody>
          <a:bodyPr/>
          <a:lstStyle/>
          <a:p>
            <a:pPr marL="0" indent="0">
              <a:buNone/>
            </a:pPr>
            <a:r>
              <a:rPr lang="en-US" sz="2500" dirty="0"/>
              <a:t>Hazard Ratio (HR):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ptos" panose="020B0004020202020204" pitchFamily="34" charset="0"/>
              </a:rPr>
              <a:t>HR &gt; 1</a:t>
            </a:r>
            <a:r>
              <a:rPr lang="en-US" altLang="en-US" sz="2500" dirty="0">
                <a:latin typeface="Aptos" panose="020B0004020202020204" pitchFamily="34" charset="0"/>
              </a:rPr>
              <a:t> → the event happens </a:t>
            </a:r>
            <a:r>
              <a:rPr lang="en-US" altLang="en-US" sz="2500" b="1" dirty="0">
                <a:latin typeface="Aptos" panose="020B0004020202020204" pitchFamily="34" charset="0"/>
              </a:rPr>
              <a:t>faster / risk is higher</a:t>
            </a:r>
            <a:endParaRPr lang="en-US" altLang="en-US" sz="2500" dirty="0">
              <a:latin typeface="Aptos" panose="020B00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ptos" panose="020B0004020202020204" pitchFamily="34" charset="0"/>
              </a:rPr>
              <a:t>HR &lt; 1</a:t>
            </a:r>
            <a:r>
              <a:rPr lang="en-US" altLang="en-US" sz="2500" dirty="0">
                <a:latin typeface="Aptos" panose="020B0004020202020204" pitchFamily="34" charset="0"/>
              </a:rPr>
              <a:t> → the event happens </a:t>
            </a:r>
            <a:r>
              <a:rPr lang="en-US" altLang="en-US" sz="2500" b="1" dirty="0">
                <a:latin typeface="Aptos" panose="020B0004020202020204" pitchFamily="34" charset="0"/>
              </a:rPr>
              <a:t>slower / risk is lower</a:t>
            </a:r>
            <a:endParaRPr lang="en-US" altLang="en-US" sz="2500" dirty="0">
              <a:latin typeface="Aptos" panose="020B00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ptos" panose="020B0004020202020204" pitchFamily="34" charset="0"/>
              </a:rPr>
              <a:t>HR = 1</a:t>
            </a:r>
            <a:r>
              <a:rPr lang="en-US" altLang="en-US" sz="2500" dirty="0">
                <a:latin typeface="Aptos" panose="020B0004020202020204" pitchFamily="34" charset="0"/>
              </a:rPr>
              <a:t> → no effect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Content Placeholder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B50A3690-6F45-BD9A-9F06-67FA59F9F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79" y="1317804"/>
            <a:ext cx="9036950" cy="266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24FD-4157-B74E-C00D-ABD535A3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423D1-DFBF-112C-1AC2-9C6584EE4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Proportional hazards:</a:t>
            </a:r>
            <a:r>
              <a:rPr lang="en-US" dirty="0"/>
              <a:t> The effect of a predictor is </a:t>
            </a:r>
            <a:r>
              <a:rPr lang="en-US" b="1" dirty="0"/>
              <a:t>constant over time</a:t>
            </a:r>
            <a:br>
              <a:rPr lang="en-US" dirty="0"/>
            </a:br>
            <a:r>
              <a:rPr lang="en-US" dirty="0"/>
              <a:t>(i.e., covariates </a:t>
            </a:r>
            <a:r>
              <a:rPr lang="en-US" i="1" dirty="0"/>
              <a:t>multiply</a:t>
            </a:r>
            <a:r>
              <a:rPr lang="en-US" dirty="0"/>
              <a:t> the hazard, but don’t change how the hazard curve changes with time)</a:t>
            </a:r>
          </a:p>
          <a:p>
            <a:r>
              <a:rPr lang="en-US" dirty="0"/>
              <a:t>Linearity of continuous covariates on the log-hazard scale</a:t>
            </a:r>
          </a:p>
          <a:p>
            <a:r>
              <a:rPr lang="en-US" dirty="0"/>
              <a:t>Independent censoring</a:t>
            </a:r>
          </a:p>
          <a:p>
            <a:r>
              <a:rPr lang="en-US" dirty="0"/>
              <a:t>Independent observations (or use frailty terms for random effects)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71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D5859-A92D-7C6C-47B7-AF170BE9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Principal Component Analysis (PCA)?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AD5D5-2373-35F5-47F0-BCECF4238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57382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 dimension-reduction technique that transforms a set of correlated variables into a smaller set of uncorrelated variables called principal components (PCs).</a:t>
            </a:r>
          </a:p>
          <a:p>
            <a:r>
              <a:rPr lang="en-US" dirty="0"/>
              <a:t>PC1 explains the largest amount of variation in the data</a:t>
            </a:r>
          </a:p>
          <a:p>
            <a:r>
              <a:rPr lang="en-US" dirty="0"/>
              <a:t>PC2 explains the next-largest, and is orthogonal to PC1</a:t>
            </a:r>
          </a:p>
          <a:p>
            <a:endParaRPr lang="en-US" dirty="0"/>
          </a:p>
        </p:txBody>
      </p:sp>
      <p:pic>
        <p:nvPicPr>
          <p:cNvPr id="4098" name="Picture 2" descr="Principal Component Analysis (PCA) 101 - NumXL">
            <a:extLst>
              <a:ext uri="{FF2B5EF4-FFF2-40B4-BE49-F238E27FC236}">
                <a16:creationId xmlns:a16="http://schemas.microsoft.com/office/drawing/2014/main" id="{8DE5C1D7-EBEA-8DCE-B0BE-E3F3CA6D5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582" y="1421120"/>
            <a:ext cx="6541104" cy="36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ssue #91 - Principal Component Analysis (PCA)">
            <a:extLst>
              <a:ext uri="{FF2B5EF4-FFF2-40B4-BE49-F238E27FC236}">
                <a16:creationId xmlns:a16="http://schemas.microsoft.com/office/drawing/2014/main" id="{B03482F5-F56F-56B1-EEEF-A3CC3409DE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7"/>
          <a:stretch>
            <a:fillRect/>
          </a:stretch>
        </p:blipFill>
        <p:spPr bwMode="auto">
          <a:xfrm>
            <a:off x="5300563" y="3260805"/>
            <a:ext cx="6891437" cy="351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90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0BFB82A-59F6-34B6-B906-713420C9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When/why to use PCA?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9E2335-EC42-7A75-96DC-7ABE3C86AE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Simplifying datasets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Removing multicollinearity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Visualizing multivariate patterns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Identifying latent behavioral/physiological syndromes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Preprocessing</a:t>
            </a:r>
            <a:endParaRPr lang="en-US" dirty="0"/>
          </a:p>
          <a:p>
            <a:endParaRPr lang="en-US" dirty="0"/>
          </a:p>
        </p:txBody>
      </p:sp>
      <p:pic>
        <p:nvPicPr>
          <p:cNvPr id="5126" name="Picture 6" descr="What is Principal Component Analysis (PCA)? | Tutorial &amp; Example">
            <a:extLst>
              <a:ext uri="{FF2B5EF4-FFF2-40B4-BE49-F238E27FC236}">
                <a16:creationId xmlns:a16="http://schemas.microsoft.com/office/drawing/2014/main" id="{ED20DAE9-49E9-177D-6E0F-DEA7139816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630" y="1825625"/>
            <a:ext cx="5592170" cy="4194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135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CBC22-99DD-56ED-CF78-FC47A434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in Animal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E383-743F-AB4E-53F4-25307AEB86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Animal behavior datasets are often:</a:t>
            </a:r>
            <a:endParaRPr lang="en-US" dirty="0"/>
          </a:p>
          <a:p>
            <a:r>
              <a:rPr lang="en-US" dirty="0"/>
              <a:t>Multivariate</a:t>
            </a:r>
          </a:p>
          <a:p>
            <a:r>
              <a:rPr lang="en-US" dirty="0"/>
              <a:t>Correlated</a:t>
            </a:r>
          </a:p>
          <a:p>
            <a:r>
              <a:rPr lang="en-US" dirty="0"/>
              <a:t>Noisy</a:t>
            </a:r>
          </a:p>
          <a:p>
            <a:r>
              <a:rPr lang="en-US" dirty="0"/>
              <a:t>Hard to visualize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Measuring boldness using ≥10 behaviors</a:t>
            </a:r>
          </a:p>
          <a:p>
            <a:r>
              <a:rPr lang="en-US" dirty="0"/>
              <a:t>Acoustic call features</a:t>
            </a:r>
          </a:p>
          <a:p>
            <a:r>
              <a:rPr lang="en-US" dirty="0"/>
              <a:t>Gait/posture metrics</a:t>
            </a:r>
          </a:p>
          <a:p>
            <a:r>
              <a:rPr lang="en-US" dirty="0"/>
              <a:t>Hormone panels (cortisol, DHEA, testosterone)</a:t>
            </a:r>
          </a:p>
          <a:p>
            <a:r>
              <a:rPr lang="en-US" dirty="0"/>
              <a:t>Multidimensional foraging decisions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A1C11-6717-1671-9CCE-17E9102DA3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PCA helps by:</a:t>
            </a:r>
            <a:endParaRPr lang="en-US" dirty="0"/>
          </a:p>
          <a:p>
            <a:r>
              <a:rPr lang="en-US" dirty="0"/>
              <a:t>Reducing complexity</a:t>
            </a:r>
          </a:p>
          <a:p>
            <a:r>
              <a:rPr lang="en-US" dirty="0"/>
              <a:t>Generating interpretable behavioral axes</a:t>
            </a:r>
          </a:p>
          <a:p>
            <a:r>
              <a:rPr lang="en-US" dirty="0"/>
              <a:t>Avoiding collinearity in regression/SEM</a:t>
            </a:r>
          </a:p>
          <a:p>
            <a:r>
              <a:rPr lang="en-US" dirty="0"/>
              <a:t>Visualizing clusters or syndromes</a:t>
            </a:r>
          </a:p>
          <a:p>
            <a:endParaRPr lang="en-US" dirty="0"/>
          </a:p>
        </p:txBody>
      </p:sp>
      <p:pic>
        <p:nvPicPr>
          <p:cNvPr id="6" name="Picture 5" descr="A table of test results&#10;&#10;AI-generated content may be incorrect.">
            <a:extLst>
              <a:ext uri="{FF2B5EF4-FFF2-40B4-BE49-F238E27FC236}">
                <a16:creationId xmlns:a16="http://schemas.microsoft.com/office/drawing/2014/main" id="{3FC2F12E-FF4E-06A5-3E7B-592D66EED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99957"/>
            <a:ext cx="4713028" cy="304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9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7064</TotalTime>
  <Words>630</Words>
  <Application>Microsoft Macintosh PowerPoint</Application>
  <PresentationFormat>Widescreen</PresentationFormat>
  <Paragraphs>71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What is survival analysis? </vt:lpstr>
      <vt:lpstr>Why use survival analysis? </vt:lpstr>
      <vt:lpstr>Key Concepts</vt:lpstr>
      <vt:lpstr>Survival Curves</vt:lpstr>
      <vt:lpstr>Survival Curves</vt:lpstr>
      <vt:lpstr>Survival Curves</vt:lpstr>
      <vt:lpstr>Survival Curves</vt:lpstr>
      <vt:lpstr>Cox Proportional Hazards Model</vt:lpstr>
      <vt:lpstr>Assumptions</vt:lpstr>
      <vt:lpstr>What is Principal Component Analysis (PCA)?</vt:lpstr>
      <vt:lpstr>When/why to use PCA? </vt:lpstr>
      <vt:lpstr>PCA in Animal Behavior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Johnson-Ulrich</dc:creator>
  <cp:lastModifiedBy>Lily Johnson-Ulrich</cp:lastModifiedBy>
  <cp:revision>2</cp:revision>
  <dcterms:created xsi:type="dcterms:W3CDTF">2025-11-26T19:53:03Z</dcterms:created>
  <dcterms:modified xsi:type="dcterms:W3CDTF">2025-12-01T17:37:56Z</dcterms:modified>
</cp:coreProperties>
</file>