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67"/>
    <a:srgbClr val="17A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4"/>
    <p:restoredTop sz="84016"/>
  </p:normalViewPr>
  <p:slideViewPr>
    <p:cSldViewPr snapToGrid="0">
      <p:cViewPr varScale="1">
        <p:scale>
          <a:sx n="87" d="100"/>
          <a:sy n="87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4428E-377A-6440-964C-2DE1A2F3521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60AA1-8DB1-0F44-8136-DAA7173C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the same as just log-transforming your response variable… it also assumes variance distribution follows a Poisson rather than Normal distribution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0AA1-8DB1-0F44-8136-DAA7173CA0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83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include values of 0 and 1 because the regression then goes to infinity at these values!!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0AA1-8DB1-0F44-8136-DAA7173CA0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5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0AA1-8DB1-0F44-8136-DAA7173CA0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45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as what we get for random effects in our mixed models!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0AA1-8DB1-0F44-8136-DAA7173CA0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99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1609-2C86-338D-467F-121D4C9EC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9052F-DEEB-A205-0D84-4E1D77952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3B8A3-0E3E-3E9A-530D-013B5028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933A-49A7-10F7-A06E-6E40CF8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8AAB-3DCA-7BB9-7188-4DE263AB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3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66E4-4391-02B7-1402-0241B474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C4CB-9497-11A6-B1E0-320410260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DC8A7-C383-9072-C818-002AB720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9842C-BF43-8B66-54F4-E8A87D89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56D79-B78E-B694-F84C-DBCBC404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0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66E3-5514-FC18-D9C3-4EBD7195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6C0E-7735-18EB-501A-C03B799BA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6705F-4D15-77D5-25CC-6FF961D7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432EC-895B-B41A-891E-51D1EDFB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18CB0-6AC0-557C-FB66-E5576E01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4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0E61-3DF0-F1AB-2222-E582630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62BC-CDE7-A99A-37C8-077AD8AE4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EACF-4359-BFCF-E0C7-2C17D9AD0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47602-D770-4D77-162C-E8BEE0F5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0B28A-D1AB-9E16-BD01-699EFD27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E89DB-61C0-B542-C6C9-054D532C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C600-B2FF-88EA-E07A-40CA888C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A1443-9816-515F-9264-50C59CAF6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8979E-1CF9-DCFB-A0F8-E72A90C8B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6C83A-89F6-404E-CF9E-A6F4A272A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EBA0-CBE1-D3C4-3CDF-C2167AA9F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EEA4D-9CC1-4371-D1E5-C4A37808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03352-93B6-A3AF-9F90-95A42E46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66BB9B-3CCC-44A8-427E-E655F8E8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DE4A-CC16-FA7D-6B10-EC5EFDEC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A8383-D0DE-8BD9-05F0-41E5A420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DE78A-F43C-6EAC-90FA-C825724D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29B2A-B17C-0272-5551-E5475288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2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37A72-3837-631C-0132-7B911F63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724BC-9186-2463-F883-C4CB2B5D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23853-406A-8ED0-4166-1EEA39D0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9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7D0F-DAFA-80E2-EDCF-B581CA48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45D9-71AA-F945-C0A0-10FBE06C7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E71B1-06DF-25B3-409D-9D0B03EDC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CC3B-0B41-6F03-6BD8-84D406F7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31F0A-C3E8-F246-50E0-3CB8E21D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24F8D-2582-FB45-2212-4DFCF9A9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6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0D5D-AAD3-0733-59B9-9B50C331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922A1-3626-E72A-33EE-1F35C30DF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06E1B-9F6B-D290-D018-127770F54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6FD3-118C-1E7E-3409-45539A11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F20B9-4022-87AD-0C75-104A889C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05F41-ABA3-AF5C-9067-934A5D4F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3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E8A7-3FAD-2942-B5E1-1C1A8335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992EE-6D7F-FE06-BF13-C077FD977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2BB9-8A74-8AD6-2452-FA2FB214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FBFE6-AC07-81D8-4998-71F39468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CD788-5372-A573-1177-0F7A30E5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9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1FBA5-34DC-45BF-0BCA-D22A8CED8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8F799-993F-C5E3-0A71-CB64F50F3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D816C-9E37-1AF6-4C0F-EC17F860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F4BD7-1DD1-98CF-FA11-8222C47C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DA73B-93C1-D51E-88EF-C73A6D52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0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A020F-5636-800E-37C4-5CAA05EE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D6F60-8AC7-166F-49B8-FCB557EE9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46D0-577D-6D66-9375-FA4DE976B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AEBA7-6A3D-FC42-8371-81A58F901F36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4EE6B-AC37-E614-74E1-69E263F03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3697A-1470-EBCD-9F7D-BC67AFE69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8ADF9-5D2B-A64F-B77F-F163CFB5D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8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lized Linear Models (GLMs): The Supercharged Linear Regression">
            <a:extLst>
              <a:ext uri="{FF2B5EF4-FFF2-40B4-BE49-F238E27FC236}">
                <a16:creationId xmlns:a16="http://schemas.microsoft.com/office/drawing/2014/main" id="{49318584-40A2-549D-BDA5-FA1F960DA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02" y="0"/>
            <a:ext cx="9558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FFDC39-3F7F-2F74-2049-B8D40CA5A7DE}"/>
              </a:ext>
            </a:extLst>
          </p:cNvPr>
          <p:cNvSpPr/>
          <p:nvPr/>
        </p:nvSpPr>
        <p:spPr>
          <a:xfrm>
            <a:off x="10160000" y="3614057"/>
            <a:ext cx="1756229" cy="725714"/>
          </a:xfrm>
          <a:prstGeom prst="rect">
            <a:avLst/>
          </a:prstGeom>
          <a:solidFill>
            <a:srgbClr val="17AA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Beta Regression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142AE-968C-FD1A-6218-60A738E2F4C5}"/>
              </a:ext>
            </a:extLst>
          </p:cNvPr>
          <p:cNvSpPr/>
          <p:nvPr/>
        </p:nvSpPr>
        <p:spPr>
          <a:xfrm>
            <a:off x="10055269" y="5827486"/>
            <a:ext cx="1756229" cy="725714"/>
          </a:xfrm>
          <a:prstGeom prst="rect">
            <a:avLst/>
          </a:prstGeom>
          <a:solidFill>
            <a:srgbClr val="FFB3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Beta Distribution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FABCC0-8F11-0E9F-253D-4435286000E7}"/>
              </a:ext>
            </a:extLst>
          </p:cNvPr>
          <p:cNvCxnSpPr>
            <a:cxnSpLocks/>
          </p:cNvCxnSpPr>
          <p:nvPr/>
        </p:nvCxnSpPr>
        <p:spPr>
          <a:xfrm>
            <a:off x="11001829" y="2322285"/>
            <a:ext cx="0" cy="1164771"/>
          </a:xfrm>
          <a:prstGeom prst="straightConnector1">
            <a:avLst/>
          </a:prstGeom>
          <a:ln w="793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63C88E-8B9D-0B92-C2CF-008084B31FE9}"/>
              </a:ext>
            </a:extLst>
          </p:cNvPr>
          <p:cNvCxnSpPr/>
          <p:nvPr/>
        </p:nvCxnSpPr>
        <p:spPr>
          <a:xfrm>
            <a:off x="8940800" y="2322285"/>
            <a:ext cx="2061029" cy="0"/>
          </a:xfrm>
          <a:prstGeom prst="line">
            <a:avLst/>
          </a:prstGeom>
          <a:ln w="793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71A3B6-EBF8-2BD9-E088-9A33F9895A85}"/>
              </a:ext>
            </a:extLst>
          </p:cNvPr>
          <p:cNvCxnSpPr/>
          <p:nvPr/>
        </p:nvCxnSpPr>
        <p:spPr>
          <a:xfrm>
            <a:off x="11001829" y="4615543"/>
            <a:ext cx="0" cy="1045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2F25C36-DA56-8C82-C75B-49BFDF1F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813" y="3370007"/>
            <a:ext cx="1880612" cy="121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5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DF27-FA1D-4D5B-6B7C-8E6DFEDE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 Regression – Count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F9C884-C08B-8009-2A6F-252E04E7D9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Link function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log link</a:t>
            </a:r>
          </a:p>
          <a:p>
            <a:r>
              <a:rPr lang="en-US" u="sng" dirty="0"/>
              <a:t>Response distribution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Poisson</a:t>
            </a:r>
          </a:p>
          <a:p>
            <a:r>
              <a:rPr lang="en-US" u="sng" dirty="0"/>
              <a:t>Variance structure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Var(Y) = Mean(Y)</a:t>
            </a:r>
          </a:p>
          <a:p>
            <a:r>
              <a:rPr lang="en-US" u="sng" dirty="0"/>
              <a:t>Checking model fit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Uniformity (Residuals)</a:t>
            </a:r>
          </a:p>
          <a:p>
            <a:pPr lvl="1"/>
            <a:r>
              <a:rPr lang="en-US" dirty="0"/>
              <a:t>Overdispersion: Var(Y) &gt; Mean(Y)</a:t>
            </a:r>
          </a:p>
          <a:p>
            <a:pPr lvl="1"/>
            <a:r>
              <a:rPr lang="en-US" dirty="0"/>
              <a:t>Zero-inflation: too many zeros</a:t>
            </a:r>
          </a:p>
        </p:txBody>
      </p:sp>
      <p:pic>
        <p:nvPicPr>
          <p:cNvPr id="2050" name="Picture 2" descr="Poisson Distribution : Meaning, Characteristics, Shape, Mean and Variance -  GeeksforGeeks">
            <a:extLst>
              <a:ext uri="{FF2B5EF4-FFF2-40B4-BE49-F238E27FC236}">
                <a16:creationId xmlns:a16="http://schemas.microsoft.com/office/drawing/2014/main" id="{34D3E000-8205-1301-38B9-F6DF33827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" y="1835831"/>
            <a:ext cx="5558503" cy="422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71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3AC9-F25C-9296-D10F-E679A09E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FDFB-0D52-32C1-BD21-AEECA7698F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Bernoulli – 0/1</a:t>
            </a:r>
          </a:p>
          <a:p>
            <a:r>
              <a:rPr lang="en-US" dirty="0"/>
              <a:t>(S ~ A + B, family=binomial)</a:t>
            </a:r>
          </a:p>
          <a:p>
            <a:r>
              <a:rPr lang="en-US" u="sng" dirty="0"/>
              <a:t>Link</a:t>
            </a:r>
            <a:r>
              <a:rPr lang="en-US" dirty="0"/>
              <a:t>: logit</a:t>
            </a:r>
          </a:p>
          <a:p>
            <a:r>
              <a:rPr lang="en-US" u="sng" dirty="0"/>
              <a:t>Response distribution</a:t>
            </a:r>
            <a:r>
              <a:rPr lang="en-US" dirty="0"/>
              <a:t>: Binomial </a:t>
            </a:r>
          </a:p>
          <a:p>
            <a:r>
              <a:rPr lang="en-US" u="sng" dirty="0"/>
              <a:t>Variance structure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p(1-p)</a:t>
            </a:r>
          </a:p>
          <a:p>
            <a:r>
              <a:rPr lang="en-US" u="sng" dirty="0"/>
              <a:t>Checking model fit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Uniformity (Residuals)</a:t>
            </a:r>
          </a:p>
          <a:p>
            <a:pPr lvl="1"/>
            <a:r>
              <a:rPr lang="en-US" dirty="0"/>
              <a:t>Zero-Inflation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u="sng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E9CA8-0742-ACB5-A68E-8D72B224B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00700" y="1825625"/>
            <a:ext cx="6400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Binary (# success / # of failures)</a:t>
            </a:r>
          </a:p>
          <a:p>
            <a:r>
              <a:rPr lang="en-US" sz="2400" dirty="0"/>
              <a:t>(</a:t>
            </a:r>
            <a:r>
              <a:rPr lang="en-US" sz="2400" dirty="0" err="1"/>
              <a:t>cbind</a:t>
            </a:r>
            <a:r>
              <a:rPr lang="en-US" sz="2400" dirty="0"/>
              <a:t>(</a:t>
            </a:r>
            <a:r>
              <a:rPr lang="en-US" sz="2400" dirty="0" err="1"/>
              <a:t>countS</a:t>
            </a:r>
            <a:r>
              <a:rPr lang="en-US" sz="2400" dirty="0"/>
              <a:t>, </a:t>
            </a:r>
            <a:r>
              <a:rPr lang="en-US" sz="2400" dirty="0" err="1"/>
              <a:t>countF</a:t>
            </a:r>
            <a:r>
              <a:rPr lang="en-US" sz="2400" dirty="0"/>
              <a:t>) ~ A + B, family=binomial)</a:t>
            </a:r>
          </a:p>
          <a:p>
            <a:r>
              <a:rPr lang="en-US" u="sng" dirty="0"/>
              <a:t>Link</a:t>
            </a:r>
            <a:r>
              <a:rPr lang="en-US" dirty="0"/>
              <a:t>: logit</a:t>
            </a:r>
          </a:p>
          <a:p>
            <a:r>
              <a:rPr lang="en-US" u="sng" dirty="0"/>
              <a:t>Response distribution</a:t>
            </a:r>
            <a:r>
              <a:rPr lang="en-US" dirty="0"/>
              <a:t>: Binomial </a:t>
            </a:r>
          </a:p>
          <a:p>
            <a:r>
              <a:rPr lang="en-US" u="sng" dirty="0"/>
              <a:t>Variance structure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np(1-p)</a:t>
            </a:r>
          </a:p>
          <a:p>
            <a:r>
              <a:rPr lang="en-US" u="sng" dirty="0"/>
              <a:t>Checking model fit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Uniformity (Residuals)</a:t>
            </a:r>
          </a:p>
          <a:p>
            <a:pPr lvl="1"/>
            <a:r>
              <a:rPr lang="en-US" dirty="0"/>
              <a:t>Overdispersion</a:t>
            </a:r>
          </a:p>
          <a:p>
            <a:pPr lvl="1"/>
            <a:r>
              <a:rPr lang="en-US" dirty="0"/>
              <a:t>Zero-Inflation</a:t>
            </a:r>
          </a:p>
          <a:p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93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1995-9904-8ADE-3C70-12DDF8B7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Regression: Proportion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72D0E-6226-B53F-017A-BB68A9508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u="sng" dirty="0"/>
              <a:t>Link function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logit</a:t>
            </a:r>
          </a:p>
          <a:p>
            <a:r>
              <a:rPr lang="en-US" u="sng" dirty="0"/>
              <a:t>Response distribution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Beta</a:t>
            </a:r>
          </a:p>
          <a:p>
            <a:r>
              <a:rPr lang="en-US" u="sng" dirty="0"/>
              <a:t>Variance structure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Var(Y)=</a:t>
            </a:r>
            <a:r>
              <a:rPr lang="el-GR" dirty="0"/>
              <a:t>μ(1−μ)​</a:t>
            </a:r>
            <a:r>
              <a:rPr lang="en-US" dirty="0"/>
              <a:t> / 1+</a:t>
            </a:r>
            <a:r>
              <a:rPr lang="el-GR" dirty="0" err="1"/>
              <a:t>ϕ</a:t>
            </a:r>
            <a:endParaRPr lang="en-US" dirty="0"/>
          </a:p>
          <a:p>
            <a:r>
              <a:rPr lang="en-US" u="sng" dirty="0"/>
              <a:t>Checking model fit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Uniformity (Residuals)</a:t>
            </a:r>
          </a:p>
          <a:p>
            <a:pPr lvl="1"/>
            <a:r>
              <a:rPr lang="en-US" dirty="0"/>
              <a:t>Variance structure (Residuals)</a:t>
            </a:r>
          </a:p>
          <a:p>
            <a:pPr lvl="1"/>
            <a:r>
              <a:rPr lang="en-US" dirty="0"/>
              <a:t>Zero-inflation: too many zeros</a:t>
            </a:r>
          </a:p>
          <a:p>
            <a:endParaRPr lang="en-US" dirty="0"/>
          </a:p>
        </p:txBody>
      </p:sp>
      <p:pic>
        <p:nvPicPr>
          <p:cNvPr id="1026" name="Picture 2" descr="generalized linear model - Why exactly can't beta regression deal with 0s  and 1s in the response variable? - Cross Validated">
            <a:extLst>
              <a:ext uri="{FF2B5EF4-FFF2-40B4-BE49-F238E27FC236}">
                <a16:creationId xmlns:a16="http://schemas.microsoft.com/office/drawing/2014/main" id="{00DAAECD-F0C2-FDC7-5AF8-133E770B9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" y="1690687"/>
            <a:ext cx="5607844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55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F44E-7109-8268-4175-5CECE204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Inter-Rater Reliability in Behavior Data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08AA333-7988-D406-620A-3F756FF4D2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6022"/>
            <a:ext cx="977741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we need it?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behavioral coding is consistent across observers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when using subjective or fine-grained behavioral definitions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for most behavioral ecology, animal cognition, and ethology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metrics: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ICC (Intraclass Correlation Coefficient)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continuous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Cohen’s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κ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Fleiss’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κ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categorical or occurrence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Bland–Altman plots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assessing agreement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20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4A1F-C1D3-3971-9F5E-0CDC0499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reliability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543A1-62C0-8D29-4308-BE47D861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Point events (startle, rearing, vocalizations)</a:t>
            </a:r>
            <a:endParaRPr lang="en-US" dirty="0"/>
          </a:p>
          <a:p>
            <a:r>
              <a:rPr lang="en-US" dirty="0"/>
              <a:t>Occurrence: yes/no = Cohen’s or Fleiss’ </a:t>
            </a:r>
            <a:r>
              <a:rPr lang="el-GR" dirty="0"/>
              <a:t>κ</a:t>
            </a:r>
            <a:endParaRPr lang="en-US" dirty="0"/>
          </a:p>
          <a:p>
            <a:r>
              <a:rPr lang="en-US" dirty="0"/>
              <a:t>Count per trial = ICC or correlation</a:t>
            </a:r>
          </a:p>
          <a:p>
            <a:r>
              <a:rPr lang="en-US" dirty="0"/>
              <a:t>Time of occurrence (timestamp) = agreement yes/no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Duration behaviors (walk, pause)</a:t>
            </a:r>
            <a:endParaRPr lang="en-US" dirty="0"/>
          </a:p>
          <a:p>
            <a:r>
              <a:rPr lang="en-US" dirty="0"/>
              <a:t>Total duration per trial = ICC or correlation</a:t>
            </a:r>
          </a:p>
          <a:p>
            <a:r>
              <a:rPr lang="en-US" dirty="0"/>
              <a:t>Latency-to-first-occurrence = ICC or correlation</a:t>
            </a:r>
          </a:p>
          <a:p>
            <a:r>
              <a:rPr lang="en-US" dirty="0"/>
              <a:t>Start/stop times = agreement  = Cohen’s or Fleiss’ </a:t>
            </a:r>
            <a:r>
              <a:rPr lang="el-GR" dirty="0"/>
              <a:t>κ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EC55-FD62-814E-5BAA-D891DD9F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Intraclass Correlation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A75E-4689-1CB3-A0B0-E080F952E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value of an ICC lies between 0 to 1, with 0 indicating no reliability among raters and 1 indicating perfect reliability.</a:t>
            </a:r>
          </a:p>
          <a:p>
            <a:r>
              <a:rPr lang="en-US" dirty="0"/>
              <a:t>An intraclass correlation coefficient, according to Koo &amp; Li:</a:t>
            </a:r>
          </a:p>
          <a:p>
            <a:pPr lvl="1"/>
            <a:r>
              <a:rPr lang="en-US" dirty="0"/>
              <a:t>Less than 0.50: Poor reliability</a:t>
            </a:r>
          </a:p>
          <a:p>
            <a:pPr lvl="1"/>
            <a:r>
              <a:rPr lang="en-US" dirty="0"/>
              <a:t>Between 0.5 and 0.75: Moderate reliability</a:t>
            </a:r>
          </a:p>
          <a:p>
            <a:pPr lvl="1"/>
            <a:r>
              <a:rPr lang="en-US" dirty="0"/>
              <a:t>Between 0.75 and 0.9: Good reliability</a:t>
            </a:r>
          </a:p>
          <a:p>
            <a:pPr lvl="1"/>
            <a:r>
              <a:rPr lang="en-US" dirty="0"/>
              <a:t>Greater than 0.9: Excellent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13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1D12-7D64-43BC-23DF-B62A5AE9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Cohen’s </a:t>
            </a:r>
            <a:r>
              <a:rPr lang="el-GR" dirty="0"/>
              <a:t>κ </a:t>
            </a:r>
            <a:r>
              <a:rPr lang="en-US" dirty="0"/>
              <a:t>and Fleiss’ </a:t>
            </a:r>
            <a:r>
              <a:rPr lang="el-GR" dirty="0"/>
              <a:t>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D4CF-2483-BA33-2F58-12D677F2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Cohen’s </a:t>
            </a:r>
            <a:r>
              <a:rPr lang="el-GR" dirty="0"/>
              <a:t>κ: </a:t>
            </a:r>
            <a:r>
              <a:rPr lang="en-US" dirty="0"/>
              <a:t>agreement between </a:t>
            </a:r>
            <a:r>
              <a:rPr lang="en-US" b="1" dirty="0"/>
              <a:t>two raters</a:t>
            </a:r>
            <a:r>
              <a:rPr lang="en-US" dirty="0"/>
              <a:t>, categorical data</a:t>
            </a:r>
          </a:p>
          <a:p>
            <a:r>
              <a:rPr lang="en-US" dirty="0"/>
              <a:t>Fleiss’ </a:t>
            </a:r>
            <a:r>
              <a:rPr lang="el-GR" dirty="0"/>
              <a:t>κ: </a:t>
            </a:r>
            <a:r>
              <a:rPr lang="el-GR" b="1" dirty="0"/>
              <a:t>3+ </a:t>
            </a:r>
            <a:r>
              <a:rPr lang="en-US" b="1" dirty="0"/>
              <a:t>raters</a:t>
            </a:r>
            <a:endParaRPr lang="en-US" dirty="0"/>
          </a:p>
          <a:p>
            <a:r>
              <a:rPr lang="el-GR" dirty="0"/>
              <a:t>κ </a:t>
            </a:r>
            <a:r>
              <a:rPr lang="en-US" dirty="0"/>
              <a:t>adjusts for chance agreement</a:t>
            </a:r>
          </a:p>
          <a:p>
            <a:r>
              <a:rPr lang="en-US" dirty="0"/>
              <a:t>Interpretation (Landis &amp; Koch, 1977 — use cautiously):</a:t>
            </a:r>
          </a:p>
          <a:p>
            <a:pPr lvl="1"/>
            <a:r>
              <a:rPr lang="en-US" dirty="0"/>
              <a:t>&lt;0.0: less than chance</a:t>
            </a:r>
          </a:p>
          <a:p>
            <a:pPr lvl="1"/>
            <a:r>
              <a:rPr lang="en-US" dirty="0"/>
              <a:t>0.0–0.20: slight</a:t>
            </a:r>
          </a:p>
          <a:p>
            <a:pPr lvl="1"/>
            <a:r>
              <a:rPr lang="en-US" dirty="0"/>
              <a:t>0.21–0.40: fair</a:t>
            </a:r>
          </a:p>
          <a:p>
            <a:pPr lvl="1"/>
            <a:r>
              <a:rPr lang="en-US" dirty="0"/>
              <a:t>0.41–0.60: moderate</a:t>
            </a:r>
          </a:p>
          <a:p>
            <a:pPr lvl="1"/>
            <a:r>
              <a:rPr lang="en-US" dirty="0"/>
              <a:t>0.61–0.80: substantial</a:t>
            </a:r>
          </a:p>
          <a:p>
            <a:pPr lvl="1"/>
            <a:r>
              <a:rPr lang="en-US" dirty="0"/>
              <a:t>0.81–1.0: excellent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2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8602</TotalTime>
  <Words>527</Words>
  <Application>Microsoft Macintosh PowerPoint</Application>
  <PresentationFormat>Widescreen</PresentationFormat>
  <Paragraphs>81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Poisson Regression – Count Data</vt:lpstr>
      <vt:lpstr>Binomial Regression</vt:lpstr>
      <vt:lpstr>Beta Regression: Proportion data</vt:lpstr>
      <vt:lpstr>Inter-Rater Reliability in Behavior Data</vt:lpstr>
      <vt:lpstr>Choosing the right reliability metric</vt:lpstr>
      <vt:lpstr>Intraclass Correlation Coefficient</vt:lpstr>
      <vt:lpstr>Cohen’s κ and Fleiss’ 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Johnson-Ulrich</dc:creator>
  <cp:lastModifiedBy>Lily Johnson-Ulrich</cp:lastModifiedBy>
  <cp:revision>15</cp:revision>
  <dcterms:created xsi:type="dcterms:W3CDTF">2025-11-06T21:23:15Z</dcterms:created>
  <dcterms:modified xsi:type="dcterms:W3CDTF">2025-11-18T16:14:03Z</dcterms:modified>
</cp:coreProperties>
</file>