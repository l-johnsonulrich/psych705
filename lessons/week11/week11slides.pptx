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1" r:id="rId2"/>
    <p:sldId id="268" r:id="rId3"/>
    <p:sldId id="267" r:id="rId4"/>
    <p:sldId id="269" r:id="rId5"/>
    <p:sldId id="271" r:id="rId6"/>
    <p:sldId id="270" r:id="rId7"/>
    <p:sldId id="262" r:id="rId8"/>
    <p:sldId id="264" r:id="rId9"/>
    <p:sldId id="263"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74720"/>
  </p:normalViewPr>
  <p:slideViewPr>
    <p:cSldViewPr snapToGrid="0">
      <p:cViewPr varScale="1">
        <p:scale>
          <a:sx n="79" d="100"/>
          <a:sy n="79" d="100"/>
        </p:scale>
        <p:origin x="16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E0F7F-C191-5540-A700-6AFFB92BB594}"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63EA68-76A3-FF47-B801-82F1EA6CA629}" type="slidenum">
              <a:rPr lang="en-US" smtClean="0"/>
              <a:t>‹#›</a:t>
            </a:fld>
            <a:endParaRPr lang="en-US"/>
          </a:p>
        </p:txBody>
      </p:sp>
    </p:spTree>
    <p:extLst>
      <p:ext uri="{BB962C8B-B14F-4D97-AF65-F5344CB8AC3E}">
        <p14:creationId xmlns:p14="http://schemas.microsoft.com/office/powerpoint/2010/main" val="1225390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does caffeine </a:t>
            </a:r>
            <a:r>
              <a:rPr lang="en-US" i="1" dirty="0"/>
              <a:t>change</a:t>
            </a:r>
            <a:r>
              <a:rPr lang="en-US" dirty="0"/>
              <a:t> the slope of the relationship between sleep and stress?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MODERATOR! </a:t>
            </a:r>
          </a:p>
          <a:p>
            <a:endParaRPr lang="en-US" dirty="0"/>
          </a:p>
        </p:txBody>
      </p:sp>
      <p:sp>
        <p:nvSpPr>
          <p:cNvPr id="4" name="Slide Number Placeholder 3"/>
          <p:cNvSpPr>
            <a:spLocks noGrp="1"/>
          </p:cNvSpPr>
          <p:nvPr>
            <p:ph type="sldNum" sz="quarter" idx="5"/>
          </p:nvPr>
        </p:nvSpPr>
        <p:spPr/>
        <p:txBody>
          <a:bodyPr/>
          <a:lstStyle/>
          <a:p>
            <a:fld id="{6463EA68-76A3-FF47-B801-82F1EA6CA629}" type="slidenum">
              <a:rPr lang="en-US" smtClean="0"/>
              <a:t>2</a:t>
            </a:fld>
            <a:endParaRPr lang="en-US"/>
          </a:p>
        </p:txBody>
      </p:sp>
    </p:spTree>
    <p:extLst>
      <p:ext uri="{BB962C8B-B14F-4D97-AF65-F5344CB8AC3E}">
        <p14:creationId xmlns:p14="http://schemas.microsoft.com/office/powerpoint/2010/main" val="2039587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Arrange a DAG! </a:t>
            </a:r>
          </a:p>
          <a:p>
            <a:r>
              <a:rPr lang="en-US" dirty="0"/>
              <a:t>Test it in R </a:t>
            </a:r>
          </a:p>
          <a:p>
            <a:r>
              <a:rPr lang="en-US" dirty="0"/>
              <a:t>**THIS IS A MEDIATOR</a:t>
            </a:r>
          </a:p>
          <a:p>
            <a:endParaRPr lang="en-US" dirty="0"/>
          </a:p>
        </p:txBody>
      </p:sp>
      <p:sp>
        <p:nvSpPr>
          <p:cNvPr id="4" name="Slide Number Placeholder 3"/>
          <p:cNvSpPr>
            <a:spLocks noGrp="1"/>
          </p:cNvSpPr>
          <p:nvPr>
            <p:ph type="sldNum" sz="quarter" idx="5"/>
          </p:nvPr>
        </p:nvSpPr>
        <p:spPr/>
        <p:txBody>
          <a:bodyPr/>
          <a:lstStyle/>
          <a:p>
            <a:fld id="{6463EA68-76A3-FF47-B801-82F1EA6CA629}" type="slidenum">
              <a:rPr lang="en-US" smtClean="0"/>
              <a:t>3</a:t>
            </a:fld>
            <a:endParaRPr lang="en-US"/>
          </a:p>
        </p:txBody>
      </p:sp>
    </p:spTree>
    <p:extLst>
      <p:ext uri="{BB962C8B-B14F-4D97-AF65-F5344CB8AC3E}">
        <p14:creationId xmlns:p14="http://schemas.microsoft.com/office/powerpoint/2010/main" val="1559561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effect</a:t>
            </a:r>
          </a:p>
        </p:txBody>
      </p:sp>
      <p:sp>
        <p:nvSpPr>
          <p:cNvPr id="4" name="Slide Number Placeholder 3"/>
          <p:cNvSpPr>
            <a:spLocks noGrp="1"/>
          </p:cNvSpPr>
          <p:nvPr>
            <p:ph type="sldNum" sz="quarter" idx="5"/>
          </p:nvPr>
        </p:nvSpPr>
        <p:spPr/>
        <p:txBody>
          <a:bodyPr/>
          <a:lstStyle/>
          <a:p>
            <a:fld id="{6463EA68-76A3-FF47-B801-82F1EA6CA629}" type="slidenum">
              <a:rPr lang="en-US" smtClean="0"/>
              <a:t>4</a:t>
            </a:fld>
            <a:endParaRPr lang="en-US"/>
          </a:p>
        </p:txBody>
      </p:sp>
    </p:spTree>
    <p:extLst>
      <p:ext uri="{BB962C8B-B14F-4D97-AF65-F5344CB8AC3E}">
        <p14:creationId xmlns:p14="http://schemas.microsoft.com/office/powerpoint/2010/main" val="273537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Confound! </a:t>
            </a:r>
          </a:p>
        </p:txBody>
      </p:sp>
      <p:sp>
        <p:nvSpPr>
          <p:cNvPr id="4" name="Slide Number Placeholder 3"/>
          <p:cNvSpPr>
            <a:spLocks noGrp="1"/>
          </p:cNvSpPr>
          <p:nvPr>
            <p:ph type="sldNum" sz="quarter" idx="5"/>
          </p:nvPr>
        </p:nvSpPr>
        <p:spPr/>
        <p:txBody>
          <a:bodyPr/>
          <a:lstStyle/>
          <a:p>
            <a:fld id="{6463EA68-76A3-FF47-B801-82F1EA6CA629}" type="slidenum">
              <a:rPr lang="en-US" smtClean="0"/>
              <a:t>5</a:t>
            </a:fld>
            <a:endParaRPr lang="en-US"/>
          </a:p>
        </p:txBody>
      </p:sp>
    </p:spTree>
    <p:extLst>
      <p:ext uri="{BB962C8B-B14F-4D97-AF65-F5344CB8AC3E}">
        <p14:creationId xmlns:p14="http://schemas.microsoft.com/office/powerpoint/2010/main" val="29772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R example for non-linear predictor </a:t>
            </a:r>
          </a:p>
        </p:txBody>
      </p:sp>
      <p:sp>
        <p:nvSpPr>
          <p:cNvPr id="4" name="Slide Number Placeholder 3"/>
          <p:cNvSpPr>
            <a:spLocks noGrp="1"/>
          </p:cNvSpPr>
          <p:nvPr>
            <p:ph type="sldNum" sz="quarter" idx="5"/>
          </p:nvPr>
        </p:nvSpPr>
        <p:spPr/>
        <p:txBody>
          <a:bodyPr/>
          <a:lstStyle/>
          <a:p>
            <a:fld id="{6463EA68-76A3-FF47-B801-82F1EA6CA629}" type="slidenum">
              <a:rPr lang="en-US" smtClean="0"/>
              <a:t>7</a:t>
            </a:fld>
            <a:endParaRPr lang="en-US"/>
          </a:p>
        </p:txBody>
      </p:sp>
    </p:spTree>
    <p:extLst>
      <p:ext uri="{BB962C8B-B14F-4D97-AF65-F5344CB8AC3E}">
        <p14:creationId xmlns:p14="http://schemas.microsoft.com/office/powerpoint/2010/main" val="3525804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intercept only model</a:t>
            </a:r>
          </a:p>
        </p:txBody>
      </p:sp>
      <p:sp>
        <p:nvSpPr>
          <p:cNvPr id="4" name="Slide Number Placeholder 3"/>
          <p:cNvSpPr>
            <a:spLocks noGrp="1"/>
          </p:cNvSpPr>
          <p:nvPr>
            <p:ph type="sldNum" sz="quarter" idx="5"/>
          </p:nvPr>
        </p:nvSpPr>
        <p:spPr/>
        <p:txBody>
          <a:bodyPr/>
          <a:lstStyle/>
          <a:p>
            <a:fld id="{6463EA68-76A3-FF47-B801-82F1EA6CA629}" type="slidenum">
              <a:rPr lang="en-US" smtClean="0"/>
              <a:t>8</a:t>
            </a:fld>
            <a:endParaRPr lang="en-US"/>
          </a:p>
        </p:txBody>
      </p:sp>
    </p:spTree>
    <p:extLst>
      <p:ext uri="{BB962C8B-B14F-4D97-AF65-F5344CB8AC3E}">
        <p14:creationId xmlns:p14="http://schemas.microsoft.com/office/powerpoint/2010/main" val="2017166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each group the relationship is negative, but between groups, the relationship is positive. </a:t>
            </a:r>
          </a:p>
          <a:p>
            <a:endParaRPr lang="en-US" dirty="0"/>
          </a:p>
          <a:p>
            <a:r>
              <a:rPr lang="en-US" dirty="0"/>
              <a:t>While we will have random variation due to each patient (say we’re looking at effect of treatment on patient recovery) there might ALSO be random variation due to doctor’s, which is a repeated variable in our dataset... </a:t>
            </a:r>
          </a:p>
          <a:p>
            <a:r>
              <a:rPr lang="en-US" dirty="0"/>
              <a:t>One row for patient then multiple patients all with the same doctor. We aren’t interested in the effect of doctor on recovery, but we want to control for the fact that some patients had 1 doctor and some had another... This is random variation that we don’t want to model </a:t>
            </a:r>
            <a:r>
              <a:rPr lang="en-US" dirty="0" err="1"/>
              <a:t>explictely</a:t>
            </a:r>
            <a:r>
              <a:rPr lang="en-US" dirty="0"/>
              <a:t>... We don’t want to add another </a:t>
            </a:r>
            <a:r>
              <a:rPr lang="en-US" dirty="0" err="1"/>
              <a:t>cateogorical</a:t>
            </a:r>
            <a:r>
              <a:rPr lang="en-US" dirty="0"/>
              <a:t> variable with 6 or MORE levels... And try to create precise estimates for each doctor is then almost the same as running 6 </a:t>
            </a:r>
            <a:r>
              <a:rPr lang="en-US" dirty="0" err="1"/>
              <a:t>indepenent</a:t>
            </a:r>
            <a:r>
              <a:rPr lang="en-US" dirty="0"/>
              <a:t> models. We want this to modeled as ”NOISE”. </a:t>
            </a:r>
          </a:p>
          <a:p>
            <a:endParaRPr lang="en-US" dirty="0"/>
          </a:p>
          <a:p>
            <a:r>
              <a:rPr lang="en-US" dirty="0"/>
              <a:t>This also controls for non-independence. We often use random effects for individual ID if we have repeated measures for individuals over time. </a:t>
            </a:r>
          </a:p>
          <a:p>
            <a:endParaRPr lang="en-US" dirty="0"/>
          </a:p>
          <a:p>
            <a:r>
              <a:rPr lang="en-US" dirty="0"/>
              <a:t>Random effects also assume that the levels of a random effect are NOT representative but a random sample from the population</a:t>
            </a:r>
          </a:p>
        </p:txBody>
      </p:sp>
      <p:sp>
        <p:nvSpPr>
          <p:cNvPr id="4" name="Slide Number Placeholder 3"/>
          <p:cNvSpPr>
            <a:spLocks noGrp="1"/>
          </p:cNvSpPr>
          <p:nvPr>
            <p:ph type="sldNum" sz="quarter" idx="5"/>
          </p:nvPr>
        </p:nvSpPr>
        <p:spPr/>
        <p:txBody>
          <a:bodyPr/>
          <a:lstStyle/>
          <a:p>
            <a:fld id="{6463EA68-76A3-FF47-B801-82F1EA6CA629}" type="slidenum">
              <a:rPr lang="en-US" smtClean="0"/>
              <a:t>10</a:t>
            </a:fld>
            <a:endParaRPr lang="en-US"/>
          </a:p>
        </p:txBody>
      </p:sp>
    </p:spTree>
    <p:extLst>
      <p:ext uri="{BB962C8B-B14F-4D97-AF65-F5344CB8AC3E}">
        <p14:creationId xmlns:p14="http://schemas.microsoft.com/office/powerpoint/2010/main" val="3980650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fixed effects, we generally aim to sample the full distribution of </a:t>
            </a:r>
            <a:r>
              <a:rPr lang="en-US"/>
              <a:t>probable values. </a:t>
            </a:r>
            <a:endParaRPr lang="en-US" dirty="0"/>
          </a:p>
        </p:txBody>
      </p:sp>
      <p:sp>
        <p:nvSpPr>
          <p:cNvPr id="4" name="Slide Number Placeholder 3"/>
          <p:cNvSpPr>
            <a:spLocks noGrp="1"/>
          </p:cNvSpPr>
          <p:nvPr>
            <p:ph type="sldNum" sz="quarter" idx="5"/>
          </p:nvPr>
        </p:nvSpPr>
        <p:spPr/>
        <p:txBody>
          <a:bodyPr/>
          <a:lstStyle/>
          <a:p>
            <a:fld id="{6463EA68-76A3-FF47-B801-82F1EA6CA629}" type="slidenum">
              <a:rPr lang="en-US" smtClean="0"/>
              <a:t>11</a:t>
            </a:fld>
            <a:endParaRPr lang="en-US"/>
          </a:p>
        </p:txBody>
      </p:sp>
    </p:spTree>
    <p:extLst>
      <p:ext uri="{BB962C8B-B14F-4D97-AF65-F5344CB8AC3E}">
        <p14:creationId xmlns:p14="http://schemas.microsoft.com/office/powerpoint/2010/main" val="1136762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94D4B-8E26-A8A8-57E6-1A97BD6BAE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A56684-1D33-53DB-3AE8-B592FC3C7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5BC96A-88E2-9063-9C23-7BD1FEA6A273}"/>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5" name="Footer Placeholder 4">
            <a:extLst>
              <a:ext uri="{FF2B5EF4-FFF2-40B4-BE49-F238E27FC236}">
                <a16:creationId xmlns:a16="http://schemas.microsoft.com/office/drawing/2014/main" id="{865CA6B0-2B16-5159-8268-46E066B3A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BB4777-04DA-A1FA-7CF7-24AE0C242A7F}"/>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4149416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5A7E6-0B9C-15BC-81E4-FB2575E8D5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830A4-D083-DDF8-82C7-AAA6671D9E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7356B1-263A-5104-CD4C-239155381F1B}"/>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5" name="Footer Placeholder 4">
            <a:extLst>
              <a:ext uri="{FF2B5EF4-FFF2-40B4-BE49-F238E27FC236}">
                <a16:creationId xmlns:a16="http://schemas.microsoft.com/office/drawing/2014/main" id="{2EA7395F-5B83-7B78-4264-0EEBFD583B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5ABF9-1A28-5A10-20C0-77BA726331A7}"/>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2239939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A1E0-751D-9E01-E028-EDDA5F96ED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06764E-C02A-4F8B-8069-C13A39C32E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C818FB-6756-179D-4B45-1E5C8075579D}"/>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5" name="Footer Placeholder 4">
            <a:extLst>
              <a:ext uri="{FF2B5EF4-FFF2-40B4-BE49-F238E27FC236}">
                <a16:creationId xmlns:a16="http://schemas.microsoft.com/office/drawing/2014/main" id="{0E56C788-C047-FB25-F228-2EB530283C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3C2EB-B57A-137D-502B-E0D685AC57B5}"/>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286165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228A5-CD9E-B222-B2E9-671E89CD33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4C9EC2-5491-3DC8-26EA-ACD5E5C3F8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636B2F-6C4E-7530-4291-1E39D91D75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1736E-0CA4-C3BF-61FA-6135DC0F6075}"/>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6" name="Footer Placeholder 5">
            <a:extLst>
              <a:ext uri="{FF2B5EF4-FFF2-40B4-BE49-F238E27FC236}">
                <a16:creationId xmlns:a16="http://schemas.microsoft.com/office/drawing/2014/main" id="{FE4A7CEC-061A-0787-E3B4-ABDFBCA089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903E73-EB34-A53C-07D6-E87A5236CAA1}"/>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498951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F3AC-C5E9-91FD-6977-3F3BC4A19E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0C9563-9113-9F81-A1A5-8F46DD82A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3C39FA-9803-4682-6091-BCD73A3D4E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44AFE7-3F14-C964-2C23-62C5EB4AFF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535537-DBB5-1012-6B95-6E7610FDEA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BCE117-616A-DDD4-B793-DF2898BA7B0D}"/>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8" name="Footer Placeholder 7">
            <a:extLst>
              <a:ext uri="{FF2B5EF4-FFF2-40B4-BE49-F238E27FC236}">
                <a16:creationId xmlns:a16="http://schemas.microsoft.com/office/drawing/2014/main" id="{28BE10C0-923F-74C0-BA0C-21631C10E0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998E0C-161C-E150-D7E0-72E99F290919}"/>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1443924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E24B0-C7E7-0FA9-C56C-FC652F045C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5F48D1-13CE-0F7B-7529-1AF8895635CD}"/>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4" name="Footer Placeholder 3">
            <a:extLst>
              <a:ext uri="{FF2B5EF4-FFF2-40B4-BE49-F238E27FC236}">
                <a16:creationId xmlns:a16="http://schemas.microsoft.com/office/drawing/2014/main" id="{7B465D08-F4A1-C693-5839-6C601FBBC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FCEC9A-B96E-BEFC-08A3-5CDEDE1A8216}"/>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992382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3F374D-950B-8FD2-7419-7DF2F975D29E}"/>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3" name="Footer Placeholder 2">
            <a:extLst>
              <a:ext uri="{FF2B5EF4-FFF2-40B4-BE49-F238E27FC236}">
                <a16:creationId xmlns:a16="http://schemas.microsoft.com/office/drawing/2014/main" id="{283FAE67-C5D6-ECC6-56CD-D1EF026D2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9CBC0E-9E33-E49E-C4D5-C4241A0458C8}"/>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4189866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0CAB-0EE0-398B-0EDF-620CD3499C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E473F5-90B7-ED87-288C-21D61E6E50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F31DC5-5021-610E-B885-F326C3970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D01F9-96C8-4DC8-2E7D-DEC88BE9E64B}"/>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6" name="Footer Placeholder 5">
            <a:extLst>
              <a:ext uri="{FF2B5EF4-FFF2-40B4-BE49-F238E27FC236}">
                <a16:creationId xmlns:a16="http://schemas.microsoft.com/office/drawing/2014/main" id="{09C81A60-882E-E3BC-C76E-C4C1E7AE56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B8910B-7A4C-8D46-CAFC-E8E50315F4A2}"/>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717348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12318-DFBF-7C6B-DB01-DD9B0DCC37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2B053C-EDA3-5A87-AABA-490C0AE9CD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469E71-159C-F8C6-A081-60F337BD6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9BEEFD-6D68-6FDA-3DF5-A55249791DD1}"/>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6" name="Footer Placeholder 5">
            <a:extLst>
              <a:ext uri="{FF2B5EF4-FFF2-40B4-BE49-F238E27FC236}">
                <a16:creationId xmlns:a16="http://schemas.microsoft.com/office/drawing/2014/main" id="{FDDD7DCB-07E6-8A34-43C0-BACD420866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E9E317-9226-AA3C-A6E1-3B00060A02FE}"/>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382420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C998-DC37-4883-C828-C4216AF0D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9B771B-411B-6D24-640A-84C3A31F6D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7E0E8-6F8D-A53E-93EA-8D1047D36307}"/>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5" name="Footer Placeholder 4">
            <a:extLst>
              <a:ext uri="{FF2B5EF4-FFF2-40B4-BE49-F238E27FC236}">
                <a16:creationId xmlns:a16="http://schemas.microsoft.com/office/drawing/2014/main" id="{4DFB7813-57FB-0E63-6E27-597EC2C05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DA75F-F4FF-66E5-F857-50F3D47255D3}"/>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4019004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EA7A8A-59AD-CA39-9304-77FF5F3A0C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51F39E-EFCE-EEE0-450F-08CDF06D3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6D2CE9-323E-A507-CFD4-C6894B4C22D9}"/>
              </a:ext>
            </a:extLst>
          </p:cNvPr>
          <p:cNvSpPr>
            <a:spLocks noGrp="1"/>
          </p:cNvSpPr>
          <p:nvPr>
            <p:ph type="dt" sz="half" idx="10"/>
          </p:nvPr>
        </p:nvSpPr>
        <p:spPr/>
        <p:txBody>
          <a:bodyPr/>
          <a:lstStyle/>
          <a:p>
            <a:fld id="{A835931C-B357-DA42-8241-09CC3E68DFB0}" type="datetimeFigureOut">
              <a:rPr lang="en-US" smtClean="0"/>
              <a:t>11/3/25</a:t>
            </a:fld>
            <a:endParaRPr lang="en-US"/>
          </a:p>
        </p:txBody>
      </p:sp>
      <p:sp>
        <p:nvSpPr>
          <p:cNvPr id="5" name="Footer Placeholder 4">
            <a:extLst>
              <a:ext uri="{FF2B5EF4-FFF2-40B4-BE49-F238E27FC236}">
                <a16:creationId xmlns:a16="http://schemas.microsoft.com/office/drawing/2014/main" id="{15E051F9-D6D7-5CF3-F0EB-441B9C52F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6CA088-5333-F90A-7EF6-1FEB2D7945B6}"/>
              </a:ext>
            </a:extLst>
          </p:cNvPr>
          <p:cNvSpPr>
            <a:spLocks noGrp="1"/>
          </p:cNvSpPr>
          <p:nvPr>
            <p:ph type="sldNum" sz="quarter" idx="12"/>
          </p:nvPr>
        </p:nvSpPr>
        <p:spPr/>
        <p:txBody>
          <a:bodyPr/>
          <a:lstStyle/>
          <a:p>
            <a:fld id="{CECF4D0B-7DA8-9947-95B8-63B02FD83F3D}" type="slidenum">
              <a:rPr lang="en-US" smtClean="0"/>
              <a:t>‹#›</a:t>
            </a:fld>
            <a:endParaRPr lang="en-US"/>
          </a:p>
        </p:txBody>
      </p:sp>
    </p:spTree>
    <p:extLst>
      <p:ext uri="{BB962C8B-B14F-4D97-AF65-F5344CB8AC3E}">
        <p14:creationId xmlns:p14="http://schemas.microsoft.com/office/powerpoint/2010/main" val="1007806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407A7F-5280-13EB-3A5F-92A1F0D09C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A9B43C-4D23-8107-ADE4-5EDD58CC54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581FB9-32B6-9777-FA4C-BE3DABE277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35931C-B357-DA42-8241-09CC3E68DFB0}" type="datetimeFigureOut">
              <a:rPr lang="en-US" smtClean="0"/>
              <a:t>11/3/25</a:t>
            </a:fld>
            <a:endParaRPr lang="en-US"/>
          </a:p>
        </p:txBody>
      </p:sp>
      <p:sp>
        <p:nvSpPr>
          <p:cNvPr id="5" name="Footer Placeholder 4">
            <a:extLst>
              <a:ext uri="{FF2B5EF4-FFF2-40B4-BE49-F238E27FC236}">
                <a16:creationId xmlns:a16="http://schemas.microsoft.com/office/drawing/2014/main" id="{0D5052E1-6F21-2639-CCF0-5D6804B38B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6650BC-2D7C-6586-D9ED-BEE87BC37C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CF4D0B-7DA8-9947-95B8-63B02FD83F3D}" type="slidenum">
              <a:rPr lang="en-US" smtClean="0"/>
              <a:t>‹#›</a:t>
            </a:fld>
            <a:endParaRPr lang="en-US"/>
          </a:p>
        </p:txBody>
      </p:sp>
    </p:spTree>
    <p:extLst>
      <p:ext uri="{BB962C8B-B14F-4D97-AF65-F5344CB8AC3E}">
        <p14:creationId xmlns:p14="http://schemas.microsoft.com/office/powerpoint/2010/main" val="2928363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3F823B-36CC-F082-8DF3-D03C88B5B1F2}"/>
              </a:ext>
            </a:extLst>
          </p:cNvPr>
          <p:cNvSpPr>
            <a:spLocks noGrp="1"/>
          </p:cNvSpPr>
          <p:nvPr>
            <p:ph type="title"/>
          </p:nvPr>
        </p:nvSpPr>
        <p:spPr/>
        <p:txBody>
          <a:bodyPr/>
          <a:lstStyle/>
          <a:p>
            <a:r>
              <a:rPr lang="en-US" dirty="0"/>
              <a:t>Vocab</a:t>
            </a:r>
          </a:p>
        </p:txBody>
      </p:sp>
      <p:sp>
        <p:nvSpPr>
          <p:cNvPr id="3" name="Content Placeholder 2">
            <a:extLst>
              <a:ext uri="{FF2B5EF4-FFF2-40B4-BE49-F238E27FC236}">
                <a16:creationId xmlns:a16="http://schemas.microsoft.com/office/drawing/2014/main" id="{3AF740E3-5C35-0A98-0953-1BD2E3838817}"/>
              </a:ext>
            </a:extLst>
          </p:cNvPr>
          <p:cNvSpPr>
            <a:spLocks noGrp="1"/>
          </p:cNvSpPr>
          <p:nvPr>
            <p:ph sz="half" idx="1"/>
          </p:nvPr>
        </p:nvSpPr>
        <p:spPr/>
        <p:txBody>
          <a:bodyPr anchor="ctr">
            <a:normAutofit fontScale="92500" lnSpcReduction="10000"/>
          </a:bodyPr>
          <a:lstStyle/>
          <a:p>
            <a:pPr marL="0" indent="0" algn="ctr">
              <a:buNone/>
            </a:pPr>
            <a:r>
              <a:rPr lang="en-US" dirty="0"/>
              <a:t>Dependent variable</a:t>
            </a:r>
          </a:p>
          <a:p>
            <a:pPr marL="0" indent="0" algn="ctr">
              <a:buNone/>
            </a:pPr>
            <a:r>
              <a:rPr lang="en-US" dirty="0"/>
              <a:t>Response variable</a:t>
            </a:r>
          </a:p>
          <a:p>
            <a:pPr marL="0" indent="0" algn="ctr">
              <a:buNone/>
            </a:pPr>
            <a:r>
              <a:rPr lang="en-US" dirty="0"/>
              <a:t>Outcome</a:t>
            </a:r>
          </a:p>
          <a:p>
            <a:pPr marL="0" indent="0" algn="ctr">
              <a:buNone/>
            </a:pPr>
            <a:r>
              <a:rPr lang="en-US" dirty="0"/>
              <a:t>Y</a:t>
            </a:r>
          </a:p>
        </p:txBody>
      </p:sp>
      <p:sp>
        <p:nvSpPr>
          <p:cNvPr id="5" name="Content Placeholder 4">
            <a:extLst>
              <a:ext uri="{FF2B5EF4-FFF2-40B4-BE49-F238E27FC236}">
                <a16:creationId xmlns:a16="http://schemas.microsoft.com/office/drawing/2014/main" id="{F70BD3FB-958A-F15E-F338-AFB0DA4DA588}"/>
              </a:ext>
            </a:extLst>
          </p:cNvPr>
          <p:cNvSpPr>
            <a:spLocks noGrp="1"/>
          </p:cNvSpPr>
          <p:nvPr>
            <p:ph sz="half" idx="2"/>
          </p:nvPr>
        </p:nvSpPr>
        <p:spPr>
          <a:xfrm>
            <a:off x="6172200" y="365125"/>
            <a:ext cx="5181600" cy="6127750"/>
          </a:xfrm>
        </p:spPr>
        <p:txBody>
          <a:bodyPr anchor="ctr">
            <a:normAutofit fontScale="92500" lnSpcReduction="10000"/>
          </a:bodyPr>
          <a:lstStyle/>
          <a:p>
            <a:pPr marL="0" indent="0">
              <a:buNone/>
            </a:pPr>
            <a:r>
              <a:rPr lang="en-US" dirty="0"/>
              <a:t>X (or X1, X2, X3)</a:t>
            </a:r>
          </a:p>
          <a:p>
            <a:pPr marL="0" indent="0">
              <a:buNone/>
            </a:pPr>
            <a:r>
              <a:rPr lang="en-US" dirty="0"/>
              <a:t>Independent variables Y &lt;- X</a:t>
            </a:r>
          </a:p>
          <a:p>
            <a:pPr marL="0" indent="0">
              <a:buNone/>
            </a:pPr>
            <a:r>
              <a:rPr lang="en-US" dirty="0"/>
              <a:t>Predictor variables Y &lt;- X</a:t>
            </a:r>
          </a:p>
          <a:p>
            <a:pPr marL="0" indent="0">
              <a:buNone/>
            </a:pPr>
            <a:r>
              <a:rPr lang="en-US" dirty="0"/>
              <a:t>Treatments Y &lt;- X</a:t>
            </a:r>
          </a:p>
          <a:p>
            <a:pPr marL="0" indent="0">
              <a:buNone/>
            </a:pPr>
            <a:r>
              <a:rPr lang="en-US" dirty="0"/>
              <a:t>Exposures Y &lt;- X</a:t>
            </a:r>
          </a:p>
          <a:p>
            <a:pPr marL="0" indent="0">
              <a:buNone/>
            </a:pPr>
            <a:r>
              <a:rPr lang="en-US" dirty="0"/>
              <a:t>Causes  Y &lt;- X </a:t>
            </a:r>
          </a:p>
          <a:p>
            <a:pPr marL="0" indent="0">
              <a:buNone/>
            </a:pPr>
            <a:r>
              <a:rPr lang="en-US" dirty="0"/>
              <a:t>Covariates Y &lt;- </a:t>
            </a:r>
            <a:r>
              <a:rPr lang="en-US" dirty="0" err="1"/>
              <a:t>Cv</a:t>
            </a:r>
            <a:endParaRPr lang="en-US" dirty="0"/>
          </a:p>
          <a:p>
            <a:pPr marL="0" indent="0">
              <a:buNone/>
            </a:pPr>
            <a:r>
              <a:rPr lang="en-US" dirty="0"/>
              <a:t>Mediators Y &lt;- M &lt;- X </a:t>
            </a:r>
          </a:p>
          <a:p>
            <a:pPr marL="0" indent="0">
              <a:buNone/>
            </a:pPr>
            <a:r>
              <a:rPr lang="en-US" dirty="0"/>
              <a:t>Moderators Y &lt;- X + X:M</a:t>
            </a:r>
          </a:p>
          <a:p>
            <a:pPr marL="0" indent="0">
              <a:buNone/>
            </a:pPr>
            <a:r>
              <a:rPr lang="en-US" dirty="0"/>
              <a:t>Confounds Y &lt;- X + Cf </a:t>
            </a:r>
          </a:p>
          <a:p>
            <a:pPr marL="0" indent="0">
              <a:buNone/>
            </a:pPr>
            <a:r>
              <a:rPr lang="en-US" dirty="0"/>
              <a:t>Interactions Y &lt;-  X1*X2</a:t>
            </a:r>
          </a:p>
          <a:p>
            <a:pPr marL="0" indent="0">
              <a:buNone/>
            </a:pPr>
            <a:r>
              <a:rPr lang="en-US" dirty="0"/>
              <a:t>Fixed Effects Y &lt;- X </a:t>
            </a:r>
          </a:p>
          <a:p>
            <a:pPr marL="0" indent="0">
              <a:buNone/>
            </a:pPr>
            <a:r>
              <a:rPr lang="en-US" dirty="0"/>
              <a:t>(Random Effects) Y &lt;- (1|R)</a:t>
            </a:r>
          </a:p>
        </p:txBody>
      </p:sp>
      <p:sp>
        <p:nvSpPr>
          <p:cNvPr id="7" name="TextBox 6">
            <a:extLst>
              <a:ext uri="{FF2B5EF4-FFF2-40B4-BE49-F238E27FC236}">
                <a16:creationId xmlns:a16="http://schemas.microsoft.com/office/drawing/2014/main" id="{9BD89E70-5DAE-E726-1BFE-01B708CFA99C}"/>
              </a:ext>
            </a:extLst>
          </p:cNvPr>
          <p:cNvSpPr txBox="1"/>
          <p:nvPr/>
        </p:nvSpPr>
        <p:spPr>
          <a:xfrm>
            <a:off x="4870537" y="2363980"/>
            <a:ext cx="1149263" cy="2585323"/>
          </a:xfrm>
          <a:prstGeom prst="rect">
            <a:avLst/>
          </a:prstGeom>
          <a:noFill/>
        </p:spPr>
        <p:txBody>
          <a:bodyPr wrap="square" rtlCol="0">
            <a:spAutoFit/>
          </a:bodyPr>
          <a:lstStyle/>
          <a:p>
            <a:pPr algn="ctr"/>
            <a:r>
              <a:rPr lang="en-US" sz="5400" dirty="0"/>
              <a:t>~</a:t>
            </a:r>
          </a:p>
          <a:p>
            <a:pPr algn="ctr"/>
            <a:r>
              <a:rPr lang="en-US" sz="5400" dirty="0"/>
              <a:t>&lt;-</a:t>
            </a:r>
          </a:p>
          <a:p>
            <a:pPr algn="ctr"/>
            <a:r>
              <a:rPr lang="en-US" sz="5400" dirty="0"/>
              <a:t>←</a:t>
            </a:r>
          </a:p>
        </p:txBody>
      </p:sp>
    </p:spTree>
    <p:extLst>
      <p:ext uri="{BB962C8B-B14F-4D97-AF65-F5344CB8AC3E}">
        <p14:creationId xmlns:p14="http://schemas.microsoft.com/office/powerpoint/2010/main" val="880422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DD32E-08CB-5511-3C78-82AEB692CC1A}"/>
              </a:ext>
            </a:extLst>
          </p:cNvPr>
          <p:cNvSpPr>
            <a:spLocks noGrp="1"/>
          </p:cNvSpPr>
          <p:nvPr>
            <p:ph type="title"/>
          </p:nvPr>
        </p:nvSpPr>
        <p:spPr/>
        <p:txBody>
          <a:bodyPr/>
          <a:lstStyle/>
          <a:p>
            <a:r>
              <a:rPr lang="en-US" dirty="0"/>
              <a:t>Identify the relationships #1:</a:t>
            </a:r>
          </a:p>
        </p:txBody>
      </p:sp>
      <p:sp>
        <p:nvSpPr>
          <p:cNvPr id="3" name="Content Placeholder 2">
            <a:extLst>
              <a:ext uri="{FF2B5EF4-FFF2-40B4-BE49-F238E27FC236}">
                <a16:creationId xmlns:a16="http://schemas.microsoft.com/office/drawing/2014/main" id="{69F9839F-B375-8597-6D39-5A2447796E37}"/>
              </a:ext>
            </a:extLst>
          </p:cNvPr>
          <p:cNvSpPr>
            <a:spLocks noGrp="1"/>
          </p:cNvSpPr>
          <p:nvPr>
            <p:ph idx="1"/>
          </p:nvPr>
        </p:nvSpPr>
        <p:spPr/>
        <p:txBody>
          <a:bodyPr/>
          <a:lstStyle/>
          <a:p>
            <a:pPr marL="0" indent="0">
              <a:buNone/>
            </a:pPr>
            <a:r>
              <a:rPr lang="en-US" dirty="0"/>
              <a:t>Getting more sleep usually reduces stress.</a:t>
            </a:r>
            <a:br>
              <a:rPr lang="en-US" dirty="0"/>
            </a:br>
            <a:r>
              <a:rPr lang="en-US" dirty="0"/>
              <a:t>But for people who drink a lot of caffeine, sleep doesn’t help much—the relationship between sleep and stress depends on caffeine intake.</a:t>
            </a:r>
          </a:p>
          <a:p>
            <a:pPr marL="0" indent="0">
              <a:buNone/>
            </a:pPr>
            <a:endParaRPr lang="en-US" dirty="0"/>
          </a:p>
        </p:txBody>
      </p:sp>
      <p:sp>
        <p:nvSpPr>
          <p:cNvPr id="4" name="Rounded Rectangle 3">
            <a:extLst>
              <a:ext uri="{FF2B5EF4-FFF2-40B4-BE49-F238E27FC236}">
                <a16:creationId xmlns:a16="http://schemas.microsoft.com/office/drawing/2014/main" id="{BED34933-9024-422B-71D7-8AD26A37FF81}"/>
              </a:ext>
            </a:extLst>
          </p:cNvPr>
          <p:cNvSpPr/>
          <p:nvPr/>
        </p:nvSpPr>
        <p:spPr>
          <a:xfrm>
            <a:off x="3780236" y="3901282"/>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Stress</a:t>
            </a:r>
          </a:p>
        </p:txBody>
      </p:sp>
      <p:sp>
        <p:nvSpPr>
          <p:cNvPr id="5" name="Rounded Rectangle 4">
            <a:extLst>
              <a:ext uri="{FF2B5EF4-FFF2-40B4-BE49-F238E27FC236}">
                <a16:creationId xmlns:a16="http://schemas.microsoft.com/office/drawing/2014/main" id="{3BFB4FDF-A17D-0569-0608-7833ADE62CDB}"/>
              </a:ext>
            </a:extLst>
          </p:cNvPr>
          <p:cNvSpPr/>
          <p:nvPr/>
        </p:nvSpPr>
        <p:spPr>
          <a:xfrm>
            <a:off x="6491290" y="3729037"/>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Caffeine</a:t>
            </a:r>
          </a:p>
        </p:txBody>
      </p:sp>
      <p:sp>
        <p:nvSpPr>
          <p:cNvPr id="6" name="Rounded Rectangle 5">
            <a:extLst>
              <a:ext uri="{FF2B5EF4-FFF2-40B4-BE49-F238E27FC236}">
                <a16:creationId xmlns:a16="http://schemas.microsoft.com/office/drawing/2014/main" id="{2ADD1B13-860E-1878-C475-BBCEE9296326}"/>
              </a:ext>
            </a:extLst>
          </p:cNvPr>
          <p:cNvSpPr/>
          <p:nvPr/>
        </p:nvSpPr>
        <p:spPr>
          <a:xfrm>
            <a:off x="1069182" y="3729038"/>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Sleep</a:t>
            </a:r>
          </a:p>
        </p:txBody>
      </p:sp>
    </p:spTree>
    <p:extLst>
      <p:ext uri="{BB962C8B-B14F-4D97-AF65-F5344CB8AC3E}">
        <p14:creationId xmlns:p14="http://schemas.microsoft.com/office/powerpoint/2010/main" val="45436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6D6-0009-874A-741A-1A428FE40D94}"/>
              </a:ext>
            </a:extLst>
          </p:cNvPr>
          <p:cNvSpPr>
            <a:spLocks noGrp="1"/>
          </p:cNvSpPr>
          <p:nvPr>
            <p:ph type="title"/>
          </p:nvPr>
        </p:nvSpPr>
        <p:spPr/>
        <p:txBody>
          <a:bodyPr/>
          <a:lstStyle/>
          <a:p>
            <a:r>
              <a:rPr lang="en-US" dirty="0"/>
              <a:t>Identify the relationships #2: </a:t>
            </a:r>
          </a:p>
        </p:txBody>
      </p:sp>
      <p:sp>
        <p:nvSpPr>
          <p:cNvPr id="3" name="Content Placeholder 2">
            <a:extLst>
              <a:ext uri="{FF2B5EF4-FFF2-40B4-BE49-F238E27FC236}">
                <a16:creationId xmlns:a16="http://schemas.microsoft.com/office/drawing/2014/main" id="{8AE77FB5-7104-918F-B1C7-CF357AA378CD}"/>
              </a:ext>
            </a:extLst>
          </p:cNvPr>
          <p:cNvSpPr>
            <a:spLocks noGrp="1"/>
          </p:cNvSpPr>
          <p:nvPr>
            <p:ph idx="1"/>
          </p:nvPr>
        </p:nvSpPr>
        <p:spPr/>
        <p:txBody>
          <a:bodyPr/>
          <a:lstStyle/>
          <a:p>
            <a:pPr marL="0" indent="0">
              <a:buNone/>
            </a:pPr>
            <a:r>
              <a:rPr lang="en-US" dirty="0"/>
              <a:t>People with higher education tend to have better health. But education also increases income, and higher income allows access to healthier food and healthcare.</a:t>
            </a:r>
          </a:p>
          <a:p>
            <a:pPr marL="0" indent="0">
              <a:buNone/>
            </a:pPr>
            <a:r>
              <a:rPr lang="en-US" dirty="0"/>
              <a:t>Does education affect health </a:t>
            </a:r>
            <a:r>
              <a:rPr lang="en-US" i="1" dirty="0"/>
              <a:t>directly</a:t>
            </a:r>
            <a:r>
              <a:rPr lang="en-US" dirty="0"/>
              <a:t> or </a:t>
            </a:r>
            <a:r>
              <a:rPr lang="en-US" i="1" dirty="0"/>
              <a:t>indirectly</a:t>
            </a:r>
            <a:r>
              <a:rPr lang="en-US" dirty="0"/>
              <a:t> through income?</a:t>
            </a:r>
          </a:p>
        </p:txBody>
      </p:sp>
      <p:sp>
        <p:nvSpPr>
          <p:cNvPr id="4" name="Rounded Rectangle 3">
            <a:extLst>
              <a:ext uri="{FF2B5EF4-FFF2-40B4-BE49-F238E27FC236}">
                <a16:creationId xmlns:a16="http://schemas.microsoft.com/office/drawing/2014/main" id="{F5AF7F0E-A033-07B2-8E4F-B699602654D1}"/>
              </a:ext>
            </a:extLst>
          </p:cNvPr>
          <p:cNvSpPr/>
          <p:nvPr/>
        </p:nvSpPr>
        <p:spPr>
          <a:xfrm>
            <a:off x="3780236" y="3901282"/>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Education</a:t>
            </a:r>
          </a:p>
        </p:txBody>
      </p:sp>
      <p:sp>
        <p:nvSpPr>
          <p:cNvPr id="5" name="Rounded Rectangle 4">
            <a:extLst>
              <a:ext uri="{FF2B5EF4-FFF2-40B4-BE49-F238E27FC236}">
                <a16:creationId xmlns:a16="http://schemas.microsoft.com/office/drawing/2014/main" id="{03FBCD2C-BF31-2C6B-49C4-186102D2D728}"/>
              </a:ext>
            </a:extLst>
          </p:cNvPr>
          <p:cNvSpPr/>
          <p:nvPr/>
        </p:nvSpPr>
        <p:spPr>
          <a:xfrm>
            <a:off x="6491290" y="3729037"/>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Health</a:t>
            </a:r>
          </a:p>
        </p:txBody>
      </p:sp>
      <p:sp>
        <p:nvSpPr>
          <p:cNvPr id="6" name="Rounded Rectangle 5">
            <a:extLst>
              <a:ext uri="{FF2B5EF4-FFF2-40B4-BE49-F238E27FC236}">
                <a16:creationId xmlns:a16="http://schemas.microsoft.com/office/drawing/2014/main" id="{E84F89D1-C57F-29F9-3676-D64A4EBF1726}"/>
              </a:ext>
            </a:extLst>
          </p:cNvPr>
          <p:cNvSpPr/>
          <p:nvPr/>
        </p:nvSpPr>
        <p:spPr>
          <a:xfrm>
            <a:off x="1069182" y="3729038"/>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Income</a:t>
            </a:r>
          </a:p>
        </p:txBody>
      </p:sp>
    </p:spTree>
    <p:extLst>
      <p:ext uri="{BB962C8B-B14F-4D97-AF65-F5344CB8AC3E}">
        <p14:creationId xmlns:p14="http://schemas.microsoft.com/office/powerpoint/2010/main" val="2750564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DFAE-A2F3-C74C-C9D7-31C54F99C478}"/>
              </a:ext>
            </a:extLst>
          </p:cNvPr>
          <p:cNvSpPr>
            <a:spLocks noGrp="1"/>
          </p:cNvSpPr>
          <p:nvPr>
            <p:ph type="title"/>
          </p:nvPr>
        </p:nvSpPr>
        <p:spPr/>
        <p:txBody>
          <a:bodyPr/>
          <a:lstStyle/>
          <a:p>
            <a:r>
              <a:rPr lang="en-US" dirty="0"/>
              <a:t>Identify the relationships #3: </a:t>
            </a:r>
          </a:p>
        </p:txBody>
      </p:sp>
      <p:sp>
        <p:nvSpPr>
          <p:cNvPr id="3" name="Content Placeholder 2">
            <a:extLst>
              <a:ext uri="{FF2B5EF4-FFF2-40B4-BE49-F238E27FC236}">
                <a16:creationId xmlns:a16="http://schemas.microsoft.com/office/drawing/2014/main" id="{2AA57D52-6C6F-59A2-211C-8E4361EBAA17}"/>
              </a:ext>
            </a:extLst>
          </p:cNvPr>
          <p:cNvSpPr>
            <a:spLocks noGrp="1"/>
          </p:cNvSpPr>
          <p:nvPr>
            <p:ph idx="1"/>
          </p:nvPr>
        </p:nvSpPr>
        <p:spPr/>
        <p:txBody>
          <a:bodyPr/>
          <a:lstStyle/>
          <a:p>
            <a:pPr marL="0" indent="0">
              <a:buNone/>
            </a:pPr>
            <a:r>
              <a:rPr lang="en-US" dirty="0"/>
              <a:t>In a behavioral ecology experiment, prey vigilance increases when predators are nearby.</a:t>
            </a:r>
            <a:br>
              <a:rPr lang="en-US" dirty="0"/>
            </a:br>
            <a:r>
              <a:rPr lang="en-US" dirty="0"/>
              <a:t>However, this effect is stronger in species that live in open habitats than those in dense forests.</a:t>
            </a:r>
          </a:p>
        </p:txBody>
      </p:sp>
      <p:sp>
        <p:nvSpPr>
          <p:cNvPr id="4" name="Rounded Rectangle 3">
            <a:extLst>
              <a:ext uri="{FF2B5EF4-FFF2-40B4-BE49-F238E27FC236}">
                <a16:creationId xmlns:a16="http://schemas.microsoft.com/office/drawing/2014/main" id="{6BF4F2B6-9E21-C267-BAC0-9ED961C9A313}"/>
              </a:ext>
            </a:extLst>
          </p:cNvPr>
          <p:cNvSpPr/>
          <p:nvPr/>
        </p:nvSpPr>
        <p:spPr>
          <a:xfrm>
            <a:off x="3780236" y="3901282"/>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Predator Density</a:t>
            </a:r>
          </a:p>
        </p:txBody>
      </p:sp>
      <p:sp>
        <p:nvSpPr>
          <p:cNvPr id="5" name="Rounded Rectangle 4">
            <a:extLst>
              <a:ext uri="{FF2B5EF4-FFF2-40B4-BE49-F238E27FC236}">
                <a16:creationId xmlns:a16="http://schemas.microsoft.com/office/drawing/2014/main" id="{359BCEAA-9531-2605-B6DC-3F49F3D712DB}"/>
              </a:ext>
            </a:extLst>
          </p:cNvPr>
          <p:cNvSpPr/>
          <p:nvPr/>
        </p:nvSpPr>
        <p:spPr>
          <a:xfrm>
            <a:off x="6491290" y="3729037"/>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Habitat</a:t>
            </a:r>
          </a:p>
        </p:txBody>
      </p:sp>
      <p:sp>
        <p:nvSpPr>
          <p:cNvPr id="6" name="Rounded Rectangle 5">
            <a:extLst>
              <a:ext uri="{FF2B5EF4-FFF2-40B4-BE49-F238E27FC236}">
                <a16:creationId xmlns:a16="http://schemas.microsoft.com/office/drawing/2014/main" id="{03750C9B-95AD-66B9-66F3-3C8B5BB34BB8}"/>
              </a:ext>
            </a:extLst>
          </p:cNvPr>
          <p:cNvSpPr/>
          <p:nvPr/>
        </p:nvSpPr>
        <p:spPr>
          <a:xfrm>
            <a:off x="1069182" y="3729038"/>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Vigilance</a:t>
            </a:r>
          </a:p>
        </p:txBody>
      </p:sp>
    </p:spTree>
    <p:extLst>
      <p:ext uri="{BB962C8B-B14F-4D97-AF65-F5344CB8AC3E}">
        <p14:creationId xmlns:p14="http://schemas.microsoft.com/office/powerpoint/2010/main" val="154133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FE26-AEE2-BC6A-2ED6-6603FAE3E055}"/>
              </a:ext>
            </a:extLst>
          </p:cNvPr>
          <p:cNvSpPr>
            <a:spLocks noGrp="1"/>
          </p:cNvSpPr>
          <p:nvPr>
            <p:ph type="title"/>
          </p:nvPr>
        </p:nvSpPr>
        <p:spPr/>
        <p:txBody>
          <a:bodyPr/>
          <a:lstStyle/>
          <a:p>
            <a:r>
              <a:rPr lang="en-US" dirty="0"/>
              <a:t>Identify the relationships: #4</a:t>
            </a:r>
          </a:p>
        </p:txBody>
      </p:sp>
      <p:sp>
        <p:nvSpPr>
          <p:cNvPr id="3" name="Content Placeholder 2">
            <a:extLst>
              <a:ext uri="{FF2B5EF4-FFF2-40B4-BE49-F238E27FC236}">
                <a16:creationId xmlns:a16="http://schemas.microsoft.com/office/drawing/2014/main" id="{6D7C158F-F8D2-0D32-59B8-D0305DC5B056}"/>
              </a:ext>
            </a:extLst>
          </p:cNvPr>
          <p:cNvSpPr>
            <a:spLocks noGrp="1"/>
          </p:cNvSpPr>
          <p:nvPr>
            <p:ph idx="1"/>
          </p:nvPr>
        </p:nvSpPr>
        <p:spPr/>
        <p:txBody>
          <a:bodyPr/>
          <a:lstStyle/>
          <a:p>
            <a:pPr marL="0" indent="0">
              <a:buNone/>
            </a:pPr>
            <a:r>
              <a:rPr lang="en-US" dirty="0"/>
              <a:t>Researchers find that people who live nearer parks and green spaces report better mental health.</a:t>
            </a:r>
            <a:br>
              <a:rPr lang="en-US" dirty="0"/>
            </a:br>
            <a:r>
              <a:rPr lang="en-US" dirty="0"/>
              <a:t>However, neighborhoods with more green space also tend to have higher socioeconomic status (SES), and higher SES is itself linked to better mental health.</a:t>
            </a:r>
          </a:p>
        </p:txBody>
      </p:sp>
      <p:sp>
        <p:nvSpPr>
          <p:cNvPr id="4" name="Rounded Rectangle 3">
            <a:extLst>
              <a:ext uri="{FF2B5EF4-FFF2-40B4-BE49-F238E27FC236}">
                <a16:creationId xmlns:a16="http://schemas.microsoft.com/office/drawing/2014/main" id="{C27DCCCA-6435-CCF1-94C7-0C0A626E632F}"/>
              </a:ext>
            </a:extLst>
          </p:cNvPr>
          <p:cNvSpPr/>
          <p:nvPr/>
        </p:nvSpPr>
        <p:spPr>
          <a:xfrm>
            <a:off x="4623199" y="4701382"/>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Mental Health</a:t>
            </a:r>
          </a:p>
        </p:txBody>
      </p:sp>
      <p:sp>
        <p:nvSpPr>
          <p:cNvPr id="5" name="Rounded Rectangle 4">
            <a:extLst>
              <a:ext uri="{FF2B5EF4-FFF2-40B4-BE49-F238E27FC236}">
                <a16:creationId xmlns:a16="http://schemas.microsoft.com/office/drawing/2014/main" id="{1866F394-B948-AD78-DBAC-BD14C90FF9AA}"/>
              </a:ext>
            </a:extLst>
          </p:cNvPr>
          <p:cNvSpPr/>
          <p:nvPr/>
        </p:nvSpPr>
        <p:spPr>
          <a:xfrm>
            <a:off x="7334253" y="4529137"/>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SES</a:t>
            </a:r>
          </a:p>
        </p:txBody>
      </p:sp>
      <p:sp>
        <p:nvSpPr>
          <p:cNvPr id="6" name="Rounded Rectangle 5">
            <a:extLst>
              <a:ext uri="{FF2B5EF4-FFF2-40B4-BE49-F238E27FC236}">
                <a16:creationId xmlns:a16="http://schemas.microsoft.com/office/drawing/2014/main" id="{A4486908-D752-6041-7D06-63F8022580AF}"/>
              </a:ext>
            </a:extLst>
          </p:cNvPr>
          <p:cNvSpPr/>
          <p:nvPr/>
        </p:nvSpPr>
        <p:spPr>
          <a:xfrm>
            <a:off x="1912145" y="4529138"/>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Green</a:t>
            </a:r>
          </a:p>
        </p:txBody>
      </p:sp>
    </p:spTree>
    <p:extLst>
      <p:ext uri="{BB962C8B-B14F-4D97-AF65-F5344CB8AC3E}">
        <p14:creationId xmlns:p14="http://schemas.microsoft.com/office/powerpoint/2010/main" val="2817466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EF55-5ED0-BE5F-567C-822E70D5D625}"/>
              </a:ext>
            </a:extLst>
          </p:cNvPr>
          <p:cNvSpPr>
            <a:spLocks noGrp="1"/>
          </p:cNvSpPr>
          <p:nvPr>
            <p:ph type="title"/>
          </p:nvPr>
        </p:nvSpPr>
        <p:spPr/>
        <p:txBody>
          <a:bodyPr/>
          <a:lstStyle/>
          <a:p>
            <a:r>
              <a:rPr lang="en-US" dirty="0"/>
              <a:t>#4: Bonus: “Colliders”</a:t>
            </a:r>
          </a:p>
        </p:txBody>
      </p:sp>
      <p:sp>
        <p:nvSpPr>
          <p:cNvPr id="3" name="Content Placeholder 2">
            <a:extLst>
              <a:ext uri="{FF2B5EF4-FFF2-40B4-BE49-F238E27FC236}">
                <a16:creationId xmlns:a16="http://schemas.microsoft.com/office/drawing/2014/main" id="{E8F3814D-885A-5939-4817-214348776870}"/>
              </a:ext>
            </a:extLst>
          </p:cNvPr>
          <p:cNvSpPr>
            <a:spLocks noGrp="1"/>
          </p:cNvSpPr>
          <p:nvPr>
            <p:ph idx="1"/>
          </p:nvPr>
        </p:nvSpPr>
        <p:spPr/>
        <p:txBody>
          <a:bodyPr/>
          <a:lstStyle/>
          <a:p>
            <a:pPr marL="0" indent="0">
              <a:buNone/>
            </a:pPr>
            <a:r>
              <a:rPr lang="en-US" dirty="0"/>
              <a:t>Suppose that both intelligence and athletic ability increase the chance of being accepted to an elite school.</a:t>
            </a:r>
            <a:br>
              <a:rPr lang="en-US" dirty="0"/>
            </a:br>
            <a:r>
              <a:rPr lang="en-US" dirty="0"/>
              <a:t>If we only look at students </a:t>
            </a:r>
            <a:r>
              <a:rPr lang="en-US" i="1" dirty="0"/>
              <a:t>within that school</a:t>
            </a:r>
            <a:r>
              <a:rPr lang="en-US" dirty="0"/>
              <a:t>, intelligence and athletic ability appear </a:t>
            </a:r>
            <a:r>
              <a:rPr lang="en-US" i="1" dirty="0"/>
              <a:t>negatively correlated</a:t>
            </a:r>
            <a:r>
              <a:rPr lang="en-US" dirty="0"/>
              <a:t> even though they’re independent in the population.</a:t>
            </a:r>
          </a:p>
        </p:txBody>
      </p:sp>
      <p:sp>
        <p:nvSpPr>
          <p:cNvPr id="4" name="Rounded Rectangle 3">
            <a:extLst>
              <a:ext uri="{FF2B5EF4-FFF2-40B4-BE49-F238E27FC236}">
                <a16:creationId xmlns:a16="http://schemas.microsoft.com/office/drawing/2014/main" id="{EBB01FA8-7DE6-4EE5-8AAB-A0E01C8AD0AB}"/>
              </a:ext>
            </a:extLst>
          </p:cNvPr>
          <p:cNvSpPr/>
          <p:nvPr/>
        </p:nvSpPr>
        <p:spPr>
          <a:xfrm>
            <a:off x="4194574" y="4387057"/>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Athletic Ability</a:t>
            </a:r>
          </a:p>
        </p:txBody>
      </p:sp>
      <p:sp>
        <p:nvSpPr>
          <p:cNvPr id="5" name="Rounded Rectangle 4">
            <a:extLst>
              <a:ext uri="{FF2B5EF4-FFF2-40B4-BE49-F238E27FC236}">
                <a16:creationId xmlns:a16="http://schemas.microsoft.com/office/drawing/2014/main" id="{14DDD7AA-B208-E247-4503-08D2ADD20949}"/>
              </a:ext>
            </a:extLst>
          </p:cNvPr>
          <p:cNvSpPr/>
          <p:nvPr/>
        </p:nvSpPr>
        <p:spPr>
          <a:xfrm>
            <a:off x="6905628" y="4214812"/>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Elite School</a:t>
            </a:r>
          </a:p>
        </p:txBody>
      </p:sp>
      <p:sp>
        <p:nvSpPr>
          <p:cNvPr id="6" name="Rounded Rectangle 5">
            <a:extLst>
              <a:ext uri="{FF2B5EF4-FFF2-40B4-BE49-F238E27FC236}">
                <a16:creationId xmlns:a16="http://schemas.microsoft.com/office/drawing/2014/main" id="{16CA8F47-4879-7C4D-B53C-290477354181}"/>
              </a:ext>
            </a:extLst>
          </p:cNvPr>
          <p:cNvSpPr/>
          <p:nvPr/>
        </p:nvSpPr>
        <p:spPr>
          <a:xfrm>
            <a:off x="1483520" y="4214813"/>
            <a:ext cx="1871662" cy="11715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Intelligence</a:t>
            </a:r>
          </a:p>
        </p:txBody>
      </p:sp>
    </p:spTree>
    <p:extLst>
      <p:ext uri="{BB962C8B-B14F-4D97-AF65-F5344CB8AC3E}">
        <p14:creationId xmlns:p14="http://schemas.microsoft.com/office/powerpoint/2010/main" val="389565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B3A06-8AAD-B308-C8C6-05CE6769FB12}"/>
              </a:ext>
            </a:extLst>
          </p:cNvPr>
          <p:cNvSpPr>
            <a:spLocks noGrp="1"/>
          </p:cNvSpPr>
          <p:nvPr>
            <p:ph type="title"/>
          </p:nvPr>
        </p:nvSpPr>
        <p:spPr/>
        <p:txBody>
          <a:bodyPr/>
          <a:lstStyle/>
          <a:p>
            <a:r>
              <a:rPr lang="en-US" dirty="0"/>
              <a:t>Assumptions are about model fit</a:t>
            </a:r>
          </a:p>
        </p:txBody>
      </p:sp>
      <p:sp>
        <p:nvSpPr>
          <p:cNvPr id="5" name="Content Placeholder 4">
            <a:extLst>
              <a:ext uri="{FF2B5EF4-FFF2-40B4-BE49-F238E27FC236}">
                <a16:creationId xmlns:a16="http://schemas.microsoft.com/office/drawing/2014/main" id="{80E7D5CF-A741-DF36-244C-15462156F815}"/>
              </a:ext>
            </a:extLst>
          </p:cNvPr>
          <p:cNvSpPr>
            <a:spLocks noGrp="1"/>
          </p:cNvSpPr>
          <p:nvPr>
            <p:ph idx="1"/>
          </p:nvPr>
        </p:nvSpPr>
        <p:spPr/>
        <p:txBody>
          <a:bodyPr/>
          <a:lstStyle/>
          <a:p>
            <a:r>
              <a:rPr lang="en-US" dirty="0"/>
              <a:t>If the model fits the data adequately: </a:t>
            </a:r>
          </a:p>
          <a:p>
            <a:pPr lvl="1"/>
            <a:r>
              <a:rPr lang="en-US" dirty="0"/>
              <a:t>A nice straight line will match the pattern of data points (</a:t>
            </a:r>
            <a:r>
              <a:rPr lang="en-US" dirty="0" err="1"/>
              <a:t>x,y</a:t>
            </a:r>
            <a:r>
              <a:rPr lang="en-US" dirty="0"/>
              <a:t>)</a:t>
            </a:r>
          </a:p>
          <a:p>
            <a:pPr lvl="1"/>
            <a:r>
              <a:rPr lang="en-US" dirty="0"/>
              <a:t>Residuals will be normally distributed (hist, </a:t>
            </a:r>
            <a:r>
              <a:rPr lang="en-US" dirty="0" err="1"/>
              <a:t>qqplot</a:t>
            </a:r>
            <a:r>
              <a:rPr lang="en-US" dirty="0"/>
              <a:t>) </a:t>
            </a:r>
          </a:p>
          <a:p>
            <a:pPr lvl="1"/>
            <a:r>
              <a:rPr lang="en-US" dirty="0"/>
              <a:t>Residuals will be homogenous across all levels of the predicted variable</a:t>
            </a:r>
          </a:p>
          <a:p>
            <a:pPr lvl="1"/>
            <a:r>
              <a:rPr lang="en-US" dirty="0"/>
              <a:t>Correlations between predictors are not so strong that the model can’t identify which one is influencing the response variable</a:t>
            </a:r>
          </a:p>
          <a:p>
            <a:pPr lvl="1"/>
            <a:endParaRPr lang="en-US" dirty="0"/>
          </a:p>
          <a:p>
            <a:pPr marL="0" indent="0">
              <a:buNone/>
            </a:pPr>
            <a:endParaRPr lang="en-US" dirty="0"/>
          </a:p>
          <a:p>
            <a:pPr marL="0" indent="0">
              <a:buNone/>
            </a:pPr>
            <a:endParaRPr lang="en-US" dirty="0"/>
          </a:p>
          <a:p>
            <a:pPr marL="0" indent="0">
              <a:buNone/>
            </a:pPr>
            <a:r>
              <a:rPr lang="en-US" dirty="0"/>
              <a:t>Non-linear relationship- what happens to model fit?</a:t>
            </a:r>
          </a:p>
        </p:txBody>
      </p:sp>
    </p:spTree>
    <p:extLst>
      <p:ext uri="{BB962C8B-B14F-4D97-AF65-F5344CB8AC3E}">
        <p14:creationId xmlns:p14="http://schemas.microsoft.com/office/powerpoint/2010/main" val="3450960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azon.co.jp: Algebraic Dance Funny Function Graph Figure, Math Equations,  Tin Sign, Metal Plate, Kitchen, Restaurant, Cafe, Garage, Signboard,  Stylish, Biker, Interior, Sign, Wall Hanging, Popular, Gift, 11.8 x :  Office Products">
            <a:extLst>
              <a:ext uri="{FF2B5EF4-FFF2-40B4-BE49-F238E27FC236}">
                <a16:creationId xmlns:a16="http://schemas.microsoft.com/office/drawing/2014/main" id="{D249224E-535E-E423-6956-BD66E25D1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175" y="0"/>
            <a:ext cx="9137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79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D06DD-C09D-7868-5C33-19B7DDEDE0C1}"/>
              </a:ext>
            </a:extLst>
          </p:cNvPr>
          <p:cNvSpPr>
            <a:spLocks noGrp="1"/>
          </p:cNvSpPr>
          <p:nvPr>
            <p:ph type="title"/>
          </p:nvPr>
        </p:nvSpPr>
        <p:spPr/>
        <p:txBody>
          <a:bodyPr/>
          <a:lstStyle/>
          <a:p>
            <a:r>
              <a:rPr lang="en-US" dirty="0"/>
              <a:t>Variance Inflation Coefficients</a:t>
            </a:r>
          </a:p>
        </p:txBody>
      </p:sp>
      <p:sp>
        <p:nvSpPr>
          <p:cNvPr id="3" name="Content Placeholder 2">
            <a:extLst>
              <a:ext uri="{FF2B5EF4-FFF2-40B4-BE49-F238E27FC236}">
                <a16:creationId xmlns:a16="http://schemas.microsoft.com/office/drawing/2014/main" id="{55B62860-8CFA-CFCD-4018-A55702AE4DA7}"/>
              </a:ext>
            </a:extLst>
          </p:cNvPr>
          <p:cNvSpPr>
            <a:spLocks noGrp="1"/>
          </p:cNvSpPr>
          <p:nvPr>
            <p:ph idx="1"/>
          </p:nvPr>
        </p:nvSpPr>
        <p:spPr/>
        <p:txBody>
          <a:bodyPr/>
          <a:lstStyle/>
          <a:p>
            <a:r>
              <a:rPr lang="en-US" dirty="0"/>
              <a:t>When two variables are </a:t>
            </a:r>
            <a:r>
              <a:rPr lang="en-US" i="1" dirty="0"/>
              <a:t>highly</a:t>
            </a:r>
            <a:r>
              <a:rPr lang="en-US" dirty="0"/>
              <a:t> correlated this can reduce the regression model’s ability to partition variance among different predictors</a:t>
            </a:r>
          </a:p>
          <a:p>
            <a:r>
              <a:rPr lang="en-US" dirty="0"/>
              <a:t>Inflates the variation (standard deviation) for the highly correlated variables and both may become non-significant (even if one of them is actually a strong casual predictor!) </a:t>
            </a:r>
          </a:p>
          <a:p>
            <a:r>
              <a:rPr lang="en-US" dirty="0"/>
              <a:t>VIFs tell us how much variation is inflated due to correlation between variables (not just how much they correlate)</a:t>
            </a:r>
          </a:p>
        </p:txBody>
      </p:sp>
    </p:spTree>
    <p:extLst>
      <p:ext uri="{BB962C8B-B14F-4D97-AF65-F5344CB8AC3E}">
        <p14:creationId xmlns:p14="http://schemas.microsoft.com/office/powerpoint/2010/main" val="958767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533D5-D541-F9B4-AC3B-8C607FBD10D8}"/>
              </a:ext>
            </a:extLst>
          </p:cNvPr>
          <p:cNvSpPr>
            <a:spLocks noGrp="1"/>
          </p:cNvSpPr>
          <p:nvPr>
            <p:ph type="title"/>
          </p:nvPr>
        </p:nvSpPr>
        <p:spPr/>
        <p:txBody>
          <a:bodyPr/>
          <a:lstStyle/>
          <a:p>
            <a:r>
              <a:rPr lang="en-US" dirty="0"/>
              <a:t>Last assumption</a:t>
            </a:r>
          </a:p>
        </p:txBody>
      </p:sp>
      <p:sp>
        <p:nvSpPr>
          <p:cNvPr id="3" name="Content Placeholder 2">
            <a:extLst>
              <a:ext uri="{FF2B5EF4-FFF2-40B4-BE49-F238E27FC236}">
                <a16:creationId xmlns:a16="http://schemas.microsoft.com/office/drawing/2014/main" id="{1A0D2D70-7B79-70C8-9F8B-A7DF20DA7F08}"/>
              </a:ext>
            </a:extLst>
          </p:cNvPr>
          <p:cNvSpPr>
            <a:spLocks noGrp="1"/>
          </p:cNvSpPr>
          <p:nvPr>
            <p:ph idx="1"/>
          </p:nvPr>
        </p:nvSpPr>
        <p:spPr>
          <a:xfrm>
            <a:off x="838200" y="1825625"/>
            <a:ext cx="5521036" cy="4351338"/>
          </a:xfrm>
        </p:spPr>
        <p:txBody>
          <a:bodyPr>
            <a:normAutofit fontScale="92500" lnSpcReduction="20000"/>
          </a:bodyPr>
          <a:lstStyle/>
          <a:p>
            <a:r>
              <a:rPr lang="en-US" b="1" dirty="0"/>
              <a:t>Independence of observations</a:t>
            </a:r>
          </a:p>
          <a:p>
            <a:endParaRPr lang="en-US" dirty="0"/>
          </a:p>
          <a:p>
            <a:r>
              <a:rPr lang="en-US" dirty="0"/>
              <a:t>Longitudinal Data</a:t>
            </a:r>
          </a:p>
          <a:p>
            <a:pPr lvl="1"/>
            <a:r>
              <a:rPr lang="en-US" dirty="0"/>
              <a:t>Repeated measures on the same individuals over time</a:t>
            </a:r>
          </a:p>
          <a:p>
            <a:r>
              <a:rPr lang="en-US" dirty="0"/>
              <a:t>Hierarchical Data</a:t>
            </a:r>
          </a:p>
          <a:p>
            <a:pPr lvl="1"/>
            <a:r>
              <a:rPr lang="en-US" dirty="0"/>
              <a:t>Multiple levels </a:t>
            </a:r>
          </a:p>
          <a:p>
            <a:pPr lvl="1"/>
            <a:r>
              <a:rPr lang="en-US" dirty="0"/>
              <a:t>E.g., patients seen by different doctors </a:t>
            </a:r>
          </a:p>
          <a:p>
            <a:pPr lvl="1"/>
            <a:r>
              <a:rPr lang="en-US" dirty="0"/>
              <a:t>Solution: Aggregate – merge patient data per doctor (doctor’s are independent)</a:t>
            </a:r>
          </a:p>
          <a:p>
            <a:pPr lvl="1"/>
            <a:r>
              <a:rPr lang="en-US" dirty="0"/>
              <a:t>Solution: Analysis within the group (run six regressions for the six doctors)</a:t>
            </a:r>
          </a:p>
          <a:p>
            <a:pPr lvl="1"/>
            <a:r>
              <a:rPr lang="en-US" b="1" dirty="0">
                <a:highlight>
                  <a:srgbClr val="FFFF00"/>
                </a:highlight>
              </a:rPr>
              <a:t>Solution: Mixed Models</a:t>
            </a:r>
          </a:p>
        </p:txBody>
      </p:sp>
      <p:pic>
        <p:nvPicPr>
          <p:cNvPr id="7" name="Picture 6" descr="A group of black and white circles&#10;&#10;AI-generated content may be incorrect.">
            <a:extLst>
              <a:ext uri="{FF2B5EF4-FFF2-40B4-BE49-F238E27FC236}">
                <a16:creationId xmlns:a16="http://schemas.microsoft.com/office/drawing/2014/main" id="{7B528537-6353-375B-515F-D0B664F56DF8}"/>
              </a:ext>
            </a:extLst>
          </p:cNvPr>
          <p:cNvPicPr>
            <a:picLocks noChangeAspect="1"/>
          </p:cNvPicPr>
          <p:nvPr/>
        </p:nvPicPr>
        <p:blipFill>
          <a:blip r:embed="rId3"/>
          <a:srcRect l="3865" r="4749"/>
          <a:stretch>
            <a:fillRect/>
          </a:stretch>
        </p:blipFill>
        <p:spPr>
          <a:xfrm>
            <a:off x="6942886" y="1211792"/>
            <a:ext cx="4677230" cy="3342433"/>
          </a:xfrm>
          <a:prstGeom prst="rect">
            <a:avLst/>
          </a:prstGeom>
          <a:ln>
            <a:solidFill>
              <a:schemeClr val="tx1"/>
            </a:solidFill>
          </a:ln>
        </p:spPr>
      </p:pic>
      <p:sp>
        <p:nvSpPr>
          <p:cNvPr id="4" name="TextBox 3">
            <a:extLst>
              <a:ext uri="{FF2B5EF4-FFF2-40B4-BE49-F238E27FC236}">
                <a16:creationId xmlns:a16="http://schemas.microsoft.com/office/drawing/2014/main" id="{E170F1B1-1376-D131-1E45-EAFA7BD95132}"/>
              </a:ext>
            </a:extLst>
          </p:cNvPr>
          <p:cNvSpPr txBox="1"/>
          <p:nvPr/>
        </p:nvSpPr>
        <p:spPr>
          <a:xfrm>
            <a:off x="7439233" y="5139282"/>
            <a:ext cx="3684535" cy="523220"/>
          </a:xfrm>
          <a:prstGeom prst="rect">
            <a:avLst/>
          </a:prstGeom>
          <a:noFill/>
        </p:spPr>
        <p:txBody>
          <a:bodyPr wrap="none" rtlCol="0">
            <a:spAutoFit/>
          </a:bodyPr>
          <a:lstStyle/>
          <a:p>
            <a:r>
              <a:rPr lang="en-US" sz="2800" dirty="0"/>
              <a:t>Y ~ Fixed + (1|Random)</a:t>
            </a:r>
          </a:p>
        </p:txBody>
      </p:sp>
    </p:spTree>
    <p:extLst>
      <p:ext uri="{BB962C8B-B14F-4D97-AF65-F5344CB8AC3E}">
        <p14:creationId xmlns:p14="http://schemas.microsoft.com/office/powerpoint/2010/main" val="2055530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52586-40D1-C378-15E2-139E54F1EDD3}"/>
              </a:ext>
            </a:extLst>
          </p:cNvPr>
          <p:cNvSpPr>
            <a:spLocks noGrp="1"/>
          </p:cNvSpPr>
          <p:nvPr>
            <p:ph type="title"/>
          </p:nvPr>
        </p:nvSpPr>
        <p:spPr/>
        <p:txBody>
          <a:bodyPr/>
          <a:lstStyle/>
          <a:p>
            <a:r>
              <a:rPr lang="en-US" dirty="0"/>
              <a:t>Random effects</a:t>
            </a:r>
          </a:p>
        </p:txBody>
      </p:sp>
      <p:sp>
        <p:nvSpPr>
          <p:cNvPr id="3" name="Content Placeholder 2">
            <a:extLst>
              <a:ext uri="{FF2B5EF4-FFF2-40B4-BE49-F238E27FC236}">
                <a16:creationId xmlns:a16="http://schemas.microsoft.com/office/drawing/2014/main" id="{D85499F6-E1F6-5771-3309-67C740825AAF}"/>
              </a:ext>
            </a:extLst>
          </p:cNvPr>
          <p:cNvSpPr>
            <a:spLocks noGrp="1"/>
          </p:cNvSpPr>
          <p:nvPr>
            <p:ph idx="1"/>
          </p:nvPr>
        </p:nvSpPr>
        <p:spPr/>
        <p:txBody>
          <a:bodyPr>
            <a:normAutofit fontScale="92500" lnSpcReduction="10000"/>
          </a:bodyPr>
          <a:lstStyle/>
          <a:p>
            <a:r>
              <a:rPr lang="en-US" dirty="0"/>
              <a:t>Control for other sources of random variability in our data (random effects contribute to explaining *residual* variance) </a:t>
            </a:r>
          </a:p>
          <a:p>
            <a:r>
              <a:rPr lang="en-US" dirty="0"/>
              <a:t>Control for repeated measures and non-independence </a:t>
            </a:r>
          </a:p>
          <a:p>
            <a:r>
              <a:rPr lang="en-US" b="1" dirty="0"/>
              <a:t>Levels of a random effect are not representative</a:t>
            </a:r>
            <a:r>
              <a:rPr lang="en-US" dirty="0"/>
              <a:t>, instead they are a random sample from the larger population </a:t>
            </a:r>
          </a:p>
          <a:p>
            <a:pPr lvl="1"/>
            <a:r>
              <a:rPr lang="en-US" dirty="0"/>
              <a:t>E.g. Doctor as a random effect / grouping variable; they are a random sample of 6 doctors</a:t>
            </a:r>
          </a:p>
          <a:p>
            <a:pPr lvl="1"/>
            <a:r>
              <a:rPr lang="en-US" dirty="0"/>
              <a:t>E.g. Individual ID.. Each individual is randomly selected for inclusion in the dataset </a:t>
            </a:r>
          </a:p>
          <a:p>
            <a:r>
              <a:rPr lang="en-US" dirty="0"/>
              <a:t>Generally not related to our hypothesis</a:t>
            </a:r>
          </a:p>
          <a:p>
            <a:r>
              <a:rPr lang="en-US" dirty="0"/>
              <a:t>Do not necessarily care about the specific parameters (e.g. how doctor A differs from B) </a:t>
            </a:r>
          </a:p>
          <a:p>
            <a:endParaRPr lang="en-US" dirty="0"/>
          </a:p>
        </p:txBody>
      </p:sp>
    </p:spTree>
    <p:extLst>
      <p:ext uri="{BB962C8B-B14F-4D97-AF65-F5344CB8AC3E}">
        <p14:creationId xmlns:p14="http://schemas.microsoft.com/office/powerpoint/2010/main" val="1544280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TotalTime>
  <Words>933</Words>
  <Application>Microsoft Macintosh PowerPoint</Application>
  <PresentationFormat>Widescreen</PresentationFormat>
  <Paragraphs>107</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Vocab</vt:lpstr>
      <vt:lpstr>Identify the relationships #1:</vt:lpstr>
      <vt:lpstr>Identify the relationships #2: </vt:lpstr>
      <vt:lpstr>Identify the relationships #3: </vt:lpstr>
      <vt:lpstr>Identify the relationships: #4</vt:lpstr>
      <vt:lpstr>#4: Bonus: “Colliders”</vt:lpstr>
      <vt:lpstr>Assumptions are about model fit</vt:lpstr>
      <vt:lpstr>PowerPoint Presentation</vt:lpstr>
      <vt:lpstr>Variance Inflation Coefficients</vt:lpstr>
      <vt:lpstr>Last assumption</vt:lpstr>
      <vt:lpstr>Random effects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Lily Johnson-Ulrich</dc:creator>
  <cp:lastModifiedBy>Lily Johnson-Ulrich</cp:lastModifiedBy>
  <cp:revision>13</cp:revision>
  <dcterms:created xsi:type="dcterms:W3CDTF">2025-10-29T13:00:09Z</dcterms:created>
  <dcterms:modified xsi:type="dcterms:W3CDTF">2025-11-03T23:05:10Z</dcterms:modified>
</cp:coreProperties>
</file>