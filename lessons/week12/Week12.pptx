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65" r:id="rId2"/>
    <p:sldId id="266" r:id="rId3"/>
    <p:sldId id="267" r:id="rId4"/>
    <p:sldId id="268" r:id="rId5"/>
    <p:sldId id="269" r:id="rId6"/>
    <p:sldId id="27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367"/>
    <a:srgbClr val="17AA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84000"/>
  </p:normalViewPr>
  <p:slideViewPr>
    <p:cSldViewPr snapToGrid="0">
      <p:cViewPr varScale="1">
        <p:scale>
          <a:sx n="89" d="100"/>
          <a:sy n="89" d="100"/>
        </p:scale>
        <p:origin x="12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54428E-377A-6440-964C-2DE1A2F35214}" type="datetimeFigureOut">
              <a:rPr lang="en-US" smtClean="0"/>
              <a:t>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E60AA1-8DB1-0F44-8136-DAA7173CA095}" type="slidenum">
              <a:rPr lang="en-US" smtClean="0"/>
              <a:t>‹#›</a:t>
            </a:fld>
            <a:endParaRPr lang="en-US"/>
          </a:p>
        </p:txBody>
      </p:sp>
    </p:spTree>
    <p:extLst>
      <p:ext uri="{BB962C8B-B14F-4D97-AF65-F5344CB8AC3E}">
        <p14:creationId xmlns:p14="http://schemas.microsoft.com/office/powerpoint/2010/main" val="579497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each group the relationship is negative, but between groups, the relationship is positive. </a:t>
            </a:r>
          </a:p>
          <a:p>
            <a:endParaRPr lang="en-US" dirty="0"/>
          </a:p>
          <a:p>
            <a:r>
              <a:rPr lang="en-US" dirty="0"/>
              <a:t>While we will have random variation due to each patient (say we’re looking at effect of treatment on patient recovery) there might ALSO be random variation due to doctor’s, which is a repeated variable in our dataset... </a:t>
            </a:r>
          </a:p>
          <a:p>
            <a:r>
              <a:rPr lang="en-US" dirty="0"/>
              <a:t>One row for patient then multiple patients all with the same doctor. We aren’t interested in the effect of doctor on recovery, but we want to control for the fact that some patients had 1 doctor and some had another... This is random variation that we don’t want to model </a:t>
            </a:r>
            <a:r>
              <a:rPr lang="en-US" dirty="0" err="1"/>
              <a:t>explictely</a:t>
            </a:r>
            <a:r>
              <a:rPr lang="en-US" dirty="0"/>
              <a:t>... We don’t want to add another </a:t>
            </a:r>
            <a:r>
              <a:rPr lang="en-US" dirty="0" err="1"/>
              <a:t>cateogorical</a:t>
            </a:r>
            <a:r>
              <a:rPr lang="en-US" dirty="0"/>
              <a:t> variable with 6 or MORE levels... And try to create precise estimates for each doctor is then almost the same as running 6 </a:t>
            </a:r>
            <a:r>
              <a:rPr lang="en-US" dirty="0" err="1"/>
              <a:t>indepenent</a:t>
            </a:r>
            <a:r>
              <a:rPr lang="en-US" dirty="0"/>
              <a:t> models. We want this to modeled as ”NOISE”. </a:t>
            </a:r>
          </a:p>
          <a:p>
            <a:endParaRPr lang="en-US" dirty="0"/>
          </a:p>
          <a:p>
            <a:r>
              <a:rPr lang="en-US" dirty="0"/>
              <a:t>This also controls for non-independence. We often use random effects for individual ID if we have repeated measures for individuals over time. </a:t>
            </a:r>
          </a:p>
          <a:p>
            <a:endParaRPr lang="en-US" dirty="0"/>
          </a:p>
          <a:p>
            <a:r>
              <a:rPr lang="en-US" dirty="0"/>
              <a:t>Random effects also assume that the levels of a random effect are NOT representative but a random sample from the population</a:t>
            </a:r>
          </a:p>
        </p:txBody>
      </p:sp>
      <p:sp>
        <p:nvSpPr>
          <p:cNvPr id="4" name="Slide Number Placeholder 3"/>
          <p:cNvSpPr>
            <a:spLocks noGrp="1"/>
          </p:cNvSpPr>
          <p:nvPr>
            <p:ph type="sldNum" sz="quarter" idx="5"/>
          </p:nvPr>
        </p:nvSpPr>
        <p:spPr/>
        <p:txBody>
          <a:bodyPr/>
          <a:lstStyle/>
          <a:p>
            <a:fld id="{6463EA68-76A3-FF47-B801-82F1EA6CA629}" type="slidenum">
              <a:rPr lang="en-US" smtClean="0"/>
              <a:t>1</a:t>
            </a:fld>
            <a:endParaRPr lang="en-US"/>
          </a:p>
        </p:txBody>
      </p:sp>
    </p:spTree>
    <p:extLst>
      <p:ext uri="{BB962C8B-B14F-4D97-AF65-F5344CB8AC3E}">
        <p14:creationId xmlns:p14="http://schemas.microsoft.com/office/powerpoint/2010/main" val="3980650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fixed effects, we generally aim to sample the full distribution of </a:t>
            </a:r>
            <a:r>
              <a:rPr lang="en-US"/>
              <a:t>probable values. </a:t>
            </a:r>
            <a:endParaRPr lang="en-US" dirty="0"/>
          </a:p>
        </p:txBody>
      </p:sp>
      <p:sp>
        <p:nvSpPr>
          <p:cNvPr id="4" name="Slide Number Placeholder 3"/>
          <p:cNvSpPr>
            <a:spLocks noGrp="1"/>
          </p:cNvSpPr>
          <p:nvPr>
            <p:ph type="sldNum" sz="quarter" idx="5"/>
          </p:nvPr>
        </p:nvSpPr>
        <p:spPr/>
        <p:txBody>
          <a:bodyPr/>
          <a:lstStyle/>
          <a:p>
            <a:fld id="{6463EA68-76A3-FF47-B801-82F1EA6CA629}" type="slidenum">
              <a:rPr lang="en-US" smtClean="0"/>
              <a:t>2</a:t>
            </a:fld>
            <a:endParaRPr lang="en-US"/>
          </a:p>
        </p:txBody>
      </p:sp>
    </p:spTree>
    <p:extLst>
      <p:ext uri="{BB962C8B-B14F-4D97-AF65-F5344CB8AC3E}">
        <p14:creationId xmlns:p14="http://schemas.microsoft.com/office/powerpoint/2010/main" val="1136762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the same as just log-transforming your response variable… it also assumes variance distribution follows a Poisson rather than Normal distribution </a:t>
            </a:r>
          </a:p>
        </p:txBody>
      </p:sp>
      <p:sp>
        <p:nvSpPr>
          <p:cNvPr id="4" name="Slide Number Placeholder 3"/>
          <p:cNvSpPr>
            <a:spLocks noGrp="1"/>
          </p:cNvSpPr>
          <p:nvPr>
            <p:ph type="sldNum" sz="quarter" idx="5"/>
          </p:nvPr>
        </p:nvSpPr>
        <p:spPr/>
        <p:txBody>
          <a:bodyPr/>
          <a:lstStyle/>
          <a:p>
            <a:fld id="{6BE60AA1-8DB1-0F44-8136-DAA7173CA095}" type="slidenum">
              <a:rPr lang="en-US" smtClean="0"/>
              <a:t>4</a:t>
            </a:fld>
            <a:endParaRPr lang="en-US"/>
          </a:p>
        </p:txBody>
      </p:sp>
    </p:spTree>
    <p:extLst>
      <p:ext uri="{BB962C8B-B14F-4D97-AF65-F5344CB8AC3E}">
        <p14:creationId xmlns:p14="http://schemas.microsoft.com/office/powerpoint/2010/main" val="2672383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Can’t include values of 0 and 1 because the regression then goes to infinity at these values!!</a:t>
            </a:r>
          </a:p>
        </p:txBody>
      </p:sp>
      <p:sp>
        <p:nvSpPr>
          <p:cNvPr id="4" name="Slide Number Placeholder 3"/>
          <p:cNvSpPr>
            <a:spLocks noGrp="1"/>
          </p:cNvSpPr>
          <p:nvPr>
            <p:ph type="sldNum" sz="quarter" idx="5"/>
          </p:nvPr>
        </p:nvSpPr>
        <p:spPr/>
        <p:txBody>
          <a:bodyPr/>
          <a:lstStyle/>
          <a:p>
            <a:fld id="{6BE60AA1-8DB1-0F44-8136-DAA7173CA095}" type="slidenum">
              <a:rPr lang="en-US" smtClean="0"/>
              <a:t>6</a:t>
            </a:fld>
            <a:endParaRPr lang="en-US"/>
          </a:p>
        </p:txBody>
      </p:sp>
    </p:spTree>
    <p:extLst>
      <p:ext uri="{BB962C8B-B14F-4D97-AF65-F5344CB8AC3E}">
        <p14:creationId xmlns:p14="http://schemas.microsoft.com/office/powerpoint/2010/main" val="366195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A1609-2C86-338D-467F-121D4C9ECF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F9052F-DEEB-A205-0D84-4E1D779527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93B8A3-0E3E-3E9A-530D-013B5028F977}"/>
              </a:ext>
            </a:extLst>
          </p:cNvPr>
          <p:cNvSpPr>
            <a:spLocks noGrp="1"/>
          </p:cNvSpPr>
          <p:nvPr>
            <p:ph type="dt" sz="half" idx="10"/>
          </p:nvPr>
        </p:nvSpPr>
        <p:spPr/>
        <p:txBody>
          <a:bodyPr/>
          <a:lstStyle/>
          <a:p>
            <a:fld id="{EFDAEBA7-6A3D-FC42-8371-81A58F901F36}" type="datetimeFigureOut">
              <a:rPr lang="en-US" smtClean="0"/>
              <a:t>11/7/25</a:t>
            </a:fld>
            <a:endParaRPr lang="en-US"/>
          </a:p>
        </p:txBody>
      </p:sp>
      <p:sp>
        <p:nvSpPr>
          <p:cNvPr id="5" name="Footer Placeholder 4">
            <a:extLst>
              <a:ext uri="{FF2B5EF4-FFF2-40B4-BE49-F238E27FC236}">
                <a16:creationId xmlns:a16="http://schemas.microsoft.com/office/drawing/2014/main" id="{F1A3933A-49A7-10F7-A06E-6E40CF864D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678AAB-3DCA-7BB9-7188-4DE263AB3406}"/>
              </a:ext>
            </a:extLst>
          </p:cNvPr>
          <p:cNvSpPr>
            <a:spLocks noGrp="1"/>
          </p:cNvSpPr>
          <p:nvPr>
            <p:ph type="sldNum" sz="quarter" idx="12"/>
          </p:nvPr>
        </p:nvSpPr>
        <p:spPr/>
        <p:txBody>
          <a:bodyPr/>
          <a:lstStyle/>
          <a:p>
            <a:fld id="{FC28ADF9-5D2B-A64F-B77F-F163CFB5DAF5}" type="slidenum">
              <a:rPr lang="en-US" smtClean="0"/>
              <a:t>‹#›</a:t>
            </a:fld>
            <a:endParaRPr lang="en-US"/>
          </a:p>
        </p:txBody>
      </p:sp>
    </p:spTree>
    <p:extLst>
      <p:ext uri="{BB962C8B-B14F-4D97-AF65-F5344CB8AC3E}">
        <p14:creationId xmlns:p14="http://schemas.microsoft.com/office/powerpoint/2010/main" val="2099137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966E4-4391-02B7-1402-0241B474D2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EAC4CB-9497-11A6-B1E0-3204102606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5DC8A7-C383-9072-C818-002AB7205452}"/>
              </a:ext>
            </a:extLst>
          </p:cNvPr>
          <p:cNvSpPr>
            <a:spLocks noGrp="1"/>
          </p:cNvSpPr>
          <p:nvPr>
            <p:ph type="dt" sz="half" idx="10"/>
          </p:nvPr>
        </p:nvSpPr>
        <p:spPr/>
        <p:txBody>
          <a:bodyPr/>
          <a:lstStyle/>
          <a:p>
            <a:fld id="{EFDAEBA7-6A3D-FC42-8371-81A58F901F36}" type="datetimeFigureOut">
              <a:rPr lang="en-US" smtClean="0"/>
              <a:t>11/7/25</a:t>
            </a:fld>
            <a:endParaRPr lang="en-US"/>
          </a:p>
        </p:txBody>
      </p:sp>
      <p:sp>
        <p:nvSpPr>
          <p:cNvPr id="5" name="Footer Placeholder 4">
            <a:extLst>
              <a:ext uri="{FF2B5EF4-FFF2-40B4-BE49-F238E27FC236}">
                <a16:creationId xmlns:a16="http://schemas.microsoft.com/office/drawing/2014/main" id="{FAB9842C-BF43-8B66-54F4-E8A87D8938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256D79-B78E-B694-F84C-DBCBC404B26B}"/>
              </a:ext>
            </a:extLst>
          </p:cNvPr>
          <p:cNvSpPr>
            <a:spLocks noGrp="1"/>
          </p:cNvSpPr>
          <p:nvPr>
            <p:ph type="sldNum" sz="quarter" idx="12"/>
          </p:nvPr>
        </p:nvSpPr>
        <p:spPr/>
        <p:txBody>
          <a:bodyPr/>
          <a:lstStyle/>
          <a:p>
            <a:fld id="{FC28ADF9-5D2B-A64F-B77F-F163CFB5DAF5}" type="slidenum">
              <a:rPr lang="en-US" smtClean="0"/>
              <a:t>‹#›</a:t>
            </a:fld>
            <a:endParaRPr lang="en-US"/>
          </a:p>
        </p:txBody>
      </p:sp>
    </p:spTree>
    <p:extLst>
      <p:ext uri="{BB962C8B-B14F-4D97-AF65-F5344CB8AC3E}">
        <p14:creationId xmlns:p14="http://schemas.microsoft.com/office/powerpoint/2010/main" val="251320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866E3-5514-FC18-D9C3-4EBD71953B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B8C6C0E-7735-18EB-501A-C03B799BA2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C6705F-4D15-77D5-25CC-6FF961D7F884}"/>
              </a:ext>
            </a:extLst>
          </p:cNvPr>
          <p:cNvSpPr>
            <a:spLocks noGrp="1"/>
          </p:cNvSpPr>
          <p:nvPr>
            <p:ph type="dt" sz="half" idx="10"/>
          </p:nvPr>
        </p:nvSpPr>
        <p:spPr/>
        <p:txBody>
          <a:bodyPr/>
          <a:lstStyle/>
          <a:p>
            <a:fld id="{EFDAEBA7-6A3D-FC42-8371-81A58F901F36}" type="datetimeFigureOut">
              <a:rPr lang="en-US" smtClean="0"/>
              <a:t>11/7/25</a:t>
            </a:fld>
            <a:endParaRPr lang="en-US"/>
          </a:p>
        </p:txBody>
      </p:sp>
      <p:sp>
        <p:nvSpPr>
          <p:cNvPr id="5" name="Footer Placeholder 4">
            <a:extLst>
              <a:ext uri="{FF2B5EF4-FFF2-40B4-BE49-F238E27FC236}">
                <a16:creationId xmlns:a16="http://schemas.microsoft.com/office/drawing/2014/main" id="{907432EC-895B-B41A-891E-51D1EDFB65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E18CB0-6AC0-557C-FB66-E5576E011B83}"/>
              </a:ext>
            </a:extLst>
          </p:cNvPr>
          <p:cNvSpPr>
            <a:spLocks noGrp="1"/>
          </p:cNvSpPr>
          <p:nvPr>
            <p:ph type="sldNum" sz="quarter" idx="12"/>
          </p:nvPr>
        </p:nvSpPr>
        <p:spPr/>
        <p:txBody>
          <a:bodyPr/>
          <a:lstStyle/>
          <a:p>
            <a:fld id="{FC28ADF9-5D2B-A64F-B77F-F163CFB5DAF5}" type="slidenum">
              <a:rPr lang="en-US" smtClean="0"/>
              <a:t>‹#›</a:t>
            </a:fld>
            <a:endParaRPr lang="en-US"/>
          </a:p>
        </p:txBody>
      </p:sp>
    </p:spTree>
    <p:extLst>
      <p:ext uri="{BB962C8B-B14F-4D97-AF65-F5344CB8AC3E}">
        <p14:creationId xmlns:p14="http://schemas.microsoft.com/office/powerpoint/2010/main" val="4284944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C0E61-3DF0-F1AB-2222-E582630D64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6562BC-CDE7-A99A-37C8-077AD8AE47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75EACF-4359-BFCF-E0C7-2C17D9AD09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347602-D770-4D77-162C-E8BEE0F537A5}"/>
              </a:ext>
            </a:extLst>
          </p:cNvPr>
          <p:cNvSpPr>
            <a:spLocks noGrp="1"/>
          </p:cNvSpPr>
          <p:nvPr>
            <p:ph type="dt" sz="half" idx="10"/>
          </p:nvPr>
        </p:nvSpPr>
        <p:spPr/>
        <p:txBody>
          <a:bodyPr/>
          <a:lstStyle/>
          <a:p>
            <a:fld id="{EFDAEBA7-6A3D-FC42-8371-81A58F901F36}" type="datetimeFigureOut">
              <a:rPr lang="en-US" smtClean="0"/>
              <a:t>11/7/25</a:t>
            </a:fld>
            <a:endParaRPr lang="en-US"/>
          </a:p>
        </p:txBody>
      </p:sp>
      <p:sp>
        <p:nvSpPr>
          <p:cNvPr id="6" name="Footer Placeholder 5">
            <a:extLst>
              <a:ext uri="{FF2B5EF4-FFF2-40B4-BE49-F238E27FC236}">
                <a16:creationId xmlns:a16="http://schemas.microsoft.com/office/drawing/2014/main" id="{1A30B28A-D1AB-9E16-BD01-699EFD2744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0E89DB-61C0-B542-C6C9-054D532CACFF}"/>
              </a:ext>
            </a:extLst>
          </p:cNvPr>
          <p:cNvSpPr>
            <a:spLocks noGrp="1"/>
          </p:cNvSpPr>
          <p:nvPr>
            <p:ph type="sldNum" sz="quarter" idx="12"/>
          </p:nvPr>
        </p:nvSpPr>
        <p:spPr/>
        <p:txBody>
          <a:bodyPr/>
          <a:lstStyle/>
          <a:p>
            <a:fld id="{FC28ADF9-5D2B-A64F-B77F-F163CFB5DAF5}" type="slidenum">
              <a:rPr lang="en-US" smtClean="0"/>
              <a:t>‹#›</a:t>
            </a:fld>
            <a:endParaRPr lang="en-US"/>
          </a:p>
        </p:txBody>
      </p:sp>
    </p:spTree>
    <p:extLst>
      <p:ext uri="{BB962C8B-B14F-4D97-AF65-F5344CB8AC3E}">
        <p14:creationId xmlns:p14="http://schemas.microsoft.com/office/powerpoint/2010/main" val="3026499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3C600-B2FF-88EA-E07A-40CA888C58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3A1443-9816-515F-9264-50C59CAF69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F8979E-1CF9-DCFB-A0F8-E72A90C8B2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C6C83A-89F6-404E-CF9E-A6F4A272A2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0DEBA0-CBE1-D3C4-3CDF-C2167AA9FE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EEEA4D-9CC1-4371-D1E5-C4A3780889EC}"/>
              </a:ext>
            </a:extLst>
          </p:cNvPr>
          <p:cNvSpPr>
            <a:spLocks noGrp="1"/>
          </p:cNvSpPr>
          <p:nvPr>
            <p:ph type="dt" sz="half" idx="10"/>
          </p:nvPr>
        </p:nvSpPr>
        <p:spPr/>
        <p:txBody>
          <a:bodyPr/>
          <a:lstStyle/>
          <a:p>
            <a:fld id="{EFDAEBA7-6A3D-FC42-8371-81A58F901F36}" type="datetimeFigureOut">
              <a:rPr lang="en-US" smtClean="0"/>
              <a:t>11/7/25</a:t>
            </a:fld>
            <a:endParaRPr lang="en-US"/>
          </a:p>
        </p:txBody>
      </p:sp>
      <p:sp>
        <p:nvSpPr>
          <p:cNvPr id="8" name="Footer Placeholder 7">
            <a:extLst>
              <a:ext uri="{FF2B5EF4-FFF2-40B4-BE49-F238E27FC236}">
                <a16:creationId xmlns:a16="http://schemas.microsoft.com/office/drawing/2014/main" id="{3CF03352-93B6-A3AF-9F90-95A42E46AE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66BB9B-3CCC-44A8-427E-E655F8E86467}"/>
              </a:ext>
            </a:extLst>
          </p:cNvPr>
          <p:cNvSpPr>
            <a:spLocks noGrp="1"/>
          </p:cNvSpPr>
          <p:nvPr>
            <p:ph type="sldNum" sz="quarter" idx="12"/>
          </p:nvPr>
        </p:nvSpPr>
        <p:spPr/>
        <p:txBody>
          <a:bodyPr/>
          <a:lstStyle/>
          <a:p>
            <a:fld id="{FC28ADF9-5D2B-A64F-B77F-F163CFB5DAF5}" type="slidenum">
              <a:rPr lang="en-US" smtClean="0"/>
              <a:t>‹#›</a:t>
            </a:fld>
            <a:endParaRPr lang="en-US"/>
          </a:p>
        </p:txBody>
      </p:sp>
    </p:spTree>
    <p:extLst>
      <p:ext uri="{BB962C8B-B14F-4D97-AF65-F5344CB8AC3E}">
        <p14:creationId xmlns:p14="http://schemas.microsoft.com/office/powerpoint/2010/main" val="247079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6DE4A-CC16-FA7D-6B10-EC5EFDEC17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1A8383-D0DE-8BD9-05F0-41E5A4209FBB}"/>
              </a:ext>
            </a:extLst>
          </p:cNvPr>
          <p:cNvSpPr>
            <a:spLocks noGrp="1"/>
          </p:cNvSpPr>
          <p:nvPr>
            <p:ph type="dt" sz="half" idx="10"/>
          </p:nvPr>
        </p:nvSpPr>
        <p:spPr/>
        <p:txBody>
          <a:bodyPr/>
          <a:lstStyle/>
          <a:p>
            <a:fld id="{EFDAEBA7-6A3D-FC42-8371-81A58F901F36}" type="datetimeFigureOut">
              <a:rPr lang="en-US" smtClean="0"/>
              <a:t>11/7/25</a:t>
            </a:fld>
            <a:endParaRPr lang="en-US"/>
          </a:p>
        </p:txBody>
      </p:sp>
      <p:sp>
        <p:nvSpPr>
          <p:cNvPr id="4" name="Footer Placeholder 3">
            <a:extLst>
              <a:ext uri="{FF2B5EF4-FFF2-40B4-BE49-F238E27FC236}">
                <a16:creationId xmlns:a16="http://schemas.microsoft.com/office/drawing/2014/main" id="{FFBDE78A-F43C-6EAC-90FA-C825724DA6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F29B2A-B17C-0272-5551-E5475288680A}"/>
              </a:ext>
            </a:extLst>
          </p:cNvPr>
          <p:cNvSpPr>
            <a:spLocks noGrp="1"/>
          </p:cNvSpPr>
          <p:nvPr>
            <p:ph type="sldNum" sz="quarter" idx="12"/>
          </p:nvPr>
        </p:nvSpPr>
        <p:spPr/>
        <p:txBody>
          <a:bodyPr/>
          <a:lstStyle/>
          <a:p>
            <a:fld id="{FC28ADF9-5D2B-A64F-B77F-F163CFB5DAF5}" type="slidenum">
              <a:rPr lang="en-US" smtClean="0"/>
              <a:t>‹#›</a:t>
            </a:fld>
            <a:endParaRPr lang="en-US"/>
          </a:p>
        </p:txBody>
      </p:sp>
    </p:spTree>
    <p:extLst>
      <p:ext uri="{BB962C8B-B14F-4D97-AF65-F5344CB8AC3E}">
        <p14:creationId xmlns:p14="http://schemas.microsoft.com/office/powerpoint/2010/main" val="4272626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237A72-3837-631C-0132-7B911F631285}"/>
              </a:ext>
            </a:extLst>
          </p:cNvPr>
          <p:cNvSpPr>
            <a:spLocks noGrp="1"/>
          </p:cNvSpPr>
          <p:nvPr>
            <p:ph type="dt" sz="half" idx="10"/>
          </p:nvPr>
        </p:nvSpPr>
        <p:spPr/>
        <p:txBody>
          <a:bodyPr/>
          <a:lstStyle/>
          <a:p>
            <a:fld id="{EFDAEBA7-6A3D-FC42-8371-81A58F901F36}" type="datetimeFigureOut">
              <a:rPr lang="en-US" smtClean="0"/>
              <a:t>11/7/25</a:t>
            </a:fld>
            <a:endParaRPr lang="en-US"/>
          </a:p>
        </p:txBody>
      </p:sp>
      <p:sp>
        <p:nvSpPr>
          <p:cNvPr id="3" name="Footer Placeholder 2">
            <a:extLst>
              <a:ext uri="{FF2B5EF4-FFF2-40B4-BE49-F238E27FC236}">
                <a16:creationId xmlns:a16="http://schemas.microsoft.com/office/drawing/2014/main" id="{488724BC-9186-2463-F883-C4CB2B5DDF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823853-406A-8ED0-4166-1EEA39D084EB}"/>
              </a:ext>
            </a:extLst>
          </p:cNvPr>
          <p:cNvSpPr>
            <a:spLocks noGrp="1"/>
          </p:cNvSpPr>
          <p:nvPr>
            <p:ph type="sldNum" sz="quarter" idx="12"/>
          </p:nvPr>
        </p:nvSpPr>
        <p:spPr/>
        <p:txBody>
          <a:bodyPr/>
          <a:lstStyle/>
          <a:p>
            <a:fld id="{FC28ADF9-5D2B-A64F-B77F-F163CFB5DAF5}" type="slidenum">
              <a:rPr lang="en-US" smtClean="0"/>
              <a:t>‹#›</a:t>
            </a:fld>
            <a:endParaRPr lang="en-US"/>
          </a:p>
        </p:txBody>
      </p:sp>
    </p:spTree>
    <p:extLst>
      <p:ext uri="{BB962C8B-B14F-4D97-AF65-F5344CB8AC3E}">
        <p14:creationId xmlns:p14="http://schemas.microsoft.com/office/powerpoint/2010/main" val="1197099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97D0F-DAFA-80E2-EDCF-B581CA48E3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1145D9-71AA-F945-C0A0-10FBE06C76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2E71B1-06DF-25B3-409D-9D0B03EDCD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ECC3B-0B41-6F03-6BD8-84D406F7CD60}"/>
              </a:ext>
            </a:extLst>
          </p:cNvPr>
          <p:cNvSpPr>
            <a:spLocks noGrp="1"/>
          </p:cNvSpPr>
          <p:nvPr>
            <p:ph type="dt" sz="half" idx="10"/>
          </p:nvPr>
        </p:nvSpPr>
        <p:spPr/>
        <p:txBody>
          <a:bodyPr/>
          <a:lstStyle/>
          <a:p>
            <a:fld id="{EFDAEBA7-6A3D-FC42-8371-81A58F901F36}" type="datetimeFigureOut">
              <a:rPr lang="en-US" smtClean="0"/>
              <a:t>11/7/25</a:t>
            </a:fld>
            <a:endParaRPr lang="en-US"/>
          </a:p>
        </p:txBody>
      </p:sp>
      <p:sp>
        <p:nvSpPr>
          <p:cNvPr id="6" name="Footer Placeholder 5">
            <a:extLst>
              <a:ext uri="{FF2B5EF4-FFF2-40B4-BE49-F238E27FC236}">
                <a16:creationId xmlns:a16="http://schemas.microsoft.com/office/drawing/2014/main" id="{2CA31F0A-C3E8-F246-50E0-3CB8E21D62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624F8D-2582-FB45-2212-4DFCF9A9AB1A}"/>
              </a:ext>
            </a:extLst>
          </p:cNvPr>
          <p:cNvSpPr>
            <a:spLocks noGrp="1"/>
          </p:cNvSpPr>
          <p:nvPr>
            <p:ph type="sldNum" sz="quarter" idx="12"/>
          </p:nvPr>
        </p:nvSpPr>
        <p:spPr/>
        <p:txBody>
          <a:bodyPr/>
          <a:lstStyle/>
          <a:p>
            <a:fld id="{FC28ADF9-5D2B-A64F-B77F-F163CFB5DAF5}" type="slidenum">
              <a:rPr lang="en-US" smtClean="0"/>
              <a:t>‹#›</a:t>
            </a:fld>
            <a:endParaRPr lang="en-US"/>
          </a:p>
        </p:txBody>
      </p:sp>
    </p:spTree>
    <p:extLst>
      <p:ext uri="{BB962C8B-B14F-4D97-AF65-F5344CB8AC3E}">
        <p14:creationId xmlns:p14="http://schemas.microsoft.com/office/powerpoint/2010/main" val="2858062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D0D5D-AAD3-0733-59B9-9B50C3314E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7922A1-3626-E72A-33EE-1F35C30DFE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506E1B-9F6B-D290-D018-127770F549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B76FD3-118C-1E7E-3409-45539A11C1A5}"/>
              </a:ext>
            </a:extLst>
          </p:cNvPr>
          <p:cNvSpPr>
            <a:spLocks noGrp="1"/>
          </p:cNvSpPr>
          <p:nvPr>
            <p:ph type="dt" sz="half" idx="10"/>
          </p:nvPr>
        </p:nvSpPr>
        <p:spPr/>
        <p:txBody>
          <a:bodyPr/>
          <a:lstStyle/>
          <a:p>
            <a:fld id="{EFDAEBA7-6A3D-FC42-8371-81A58F901F36}" type="datetimeFigureOut">
              <a:rPr lang="en-US" smtClean="0"/>
              <a:t>11/7/25</a:t>
            </a:fld>
            <a:endParaRPr lang="en-US"/>
          </a:p>
        </p:txBody>
      </p:sp>
      <p:sp>
        <p:nvSpPr>
          <p:cNvPr id="6" name="Footer Placeholder 5">
            <a:extLst>
              <a:ext uri="{FF2B5EF4-FFF2-40B4-BE49-F238E27FC236}">
                <a16:creationId xmlns:a16="http://schemas.microsoft.com/office/drawing/2014/main" id="{E98F20B9-4022-87AD-0C75-104A889C3A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605F41-ABA3-AF5C-9067-934A5D4FB2CA}"/>
              </a:ext>
            </a:extLst>
          </p:cNvPr>
          <p:cNvSpPr>
            <a:spLocks noGrp="1"/>
          </p:cNvSpPr>
          <p:nvPr>
            <p:ph type="sldNum" sz="quarter" idx="12"/>
          </p:nvPr>
        </p:nvSpPr>
        <p:spPr/>
        <p:txBody>
          <a:bodyPr/>
          <a:lstStyle/>
          <a:p>
            <a:fld id="{FC28ADF9-5D2B-A64F-B77F-F163CFB5DAF5}" type="slidenum">
              <a:rPr lang="en-US" smtClean="0"/>
              <a:t>‹#›</a:t>
            </a:fld>
            <a:endParaRPr lang="en-US"/>
          </a:p>
        </p:txBody>
      </p:sp>
    </p:spTree>
    <p:extLst>
      <p:ext uri="{BB962C8B-B14F-4D97-AF65-F5344CB8AC3E}">
        <p14:creationId xmlns:p14="http://schemas.microsoft.com/office/powerpoint/2010/main" val="2469730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BE8A7-3FAD-2942-B5E1-1C1A8335AC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6992EE-6D7F-FE06-BF13-C077FD977E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92BB9-8A74-8AD6-2452-FA2FB214DC1E}"/>
              </a:ext>
            </a:extLst>
          </p:cNvPr>
          <p:cNvSpPr>
            <a:spLocks noGrp="1"/>
          </p:cNvSpPr>
          <p:nvPr>
            <p:ph type="dt" sz="half" idx="10"/>
          </p:nvPr>
        </p:nvSpPr>
        <p:spPr/>
        <p:txBody>
          <a:bodyPr/>
          <a:lstStyle/>
          <a:p>
            <a:fld id="{EFDAEBA7-6A3D-FC42-8371-81A58F901F36}" type="datetimeFigureOut">
              <a:rPr lang="en-US" smtClean="0"/>
              <a:t>11/7/25</a:t>
            </a:fld>
            <a:endParaRPr lang="en-US"/>
          </a:p>
        </p:txBody>
      </p:sp>
      <p:sp>
        <p:nvSpPr>
          <p:cNvPr id="5" name="Footer Placeholder 4">
            <a:extLst>
              <a:ext uri="{FF2B5EF4-FFF2-40B4-BE49-F238E27FC236}">
                <a16:creationId xmlns:a16="http://schemas.microsoft.com/office/drawing/2014/main" id="{2A5FBFE6-AC07-81D8-4998-71F394687C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FCD788-5372-A573-1177-0F7A30E51118}"/>
              </a:ext>
            </a:extLst>
          </p:cNvPr>
          <p:cNvSpPr>
            <a:spLocks noGrp="1"/>
          </p:cNvSpPr>
          <p:nvPr>
            <p:ph type="sldNum" sz="quarter" idx="12"/>
          </p:nvPr>
        </p:nvSpPr>
        <p:spPr/>
        <p:txBody>
          <a:bodyPr/>
          <a:lstStyle/>
          <a:p>
            <a:fld id="{FC28ADF9-5D2B-A64F-B77F-F163CFB5DAF5}" type="slidenum">
              <a:rPr lang="en-US" smtClean="0"/>
              <a:t>‹#›</a:t>
            </a:fld>
            <a:endParaRPr lang="en-US"/>
          </a:p>
        </p:txBody>
      </p:sp>
    </p:spTree>
    <p:extLst>
      <p:ext uri="{BB962C8B-B14F-4D97-AF65-F5344CB8AC3E}">
        <p14:creationId xmlns:p14="http://schemas.microsoft.com/office/powerpoint/2010/main" val="3064599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81FBA5-34DC-45BF-0BCA-D22A8CED80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F8F799-993F-C5E3-0A71-CB64F50F30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2D816C-9E37-1AF6-4C0F-EC17F860A7A8}"/>
              </a:ext>
            </a:extLst>
          </p:cNvPr>
          <p:cNvSpPr>
            <a:spLocks noGrp="1"/>
          </p:cNvSpPr>
          <p:nvPr>
            <p:ph type="dt" sz="half" idx="10"/>
          </p:nvPr>
        </p:nvSpPr>
        <p:spPr/>
        <p:txBody>
          <a:bodyPr/>
          <a:lstStyle/>
          <a:p>
            <a:fld id="{EFDAEBA7-6A3D-FC42-8371-81A58F901F36}" type="datetimeFigureOut">
              <a:rPr lang="en-US" smtClean="0"/>
              <a:t>11/7/25</a:t>
            </a:fld>
            <a:endParaRPr lang="en-US"/>
          </a:p>
        </p:txBody>
      </p:sp>
      <p:sp>
        <p:nvSpPr>
          <p:cNvPr id="5" name="Footer Placeholder 4">
            <a:extLst>
              <a:ext uri="{FF2B5EF4-FFF2-40B4-BE49-F238E27FC236}">
                <a16:creationId xmlns:a16="http://schemas.microsoft.com/office/drawing/2014/main" id="{90EF4BD7-1DD1-98CF-FA11-8222C47CCD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DA73B-93C1-D51E-88EF-C73A6D520BD0}"/>
              </a:ext>
            </a:extLst>
          </p:cNvPr>
          <p:cNvSpPr>
            <a:spLocks noGrp="1"/>
          </p:cNvSpPr>
          <p:nvPr>
            <p:ph type="sldNum" sz="quarter" idx="12"/>
          </p:nvPr>
        </p:nvSpPr>
        <p:spPr/>
        <p:txBody>
          <a:bodyPr/>
          <a:lstStyle/>
          <a:p>
            <a:fld id="{FC28ADF9-5D2B-A64F-B77F-F163CFB5DAF5}" type="slidenum">
              <a:rPr lang="en-US" smtClean="0"/>
              <a:t>‹#›</a:t>
            </a:fld>
            <a:endParaRPr lang="en-US"/>
          </a:p>
        </p:txBody>
      </p:sp>
    </p:spTree>
    <p:extLst>
      <p:ext uri="{BB962C8B-B14F-4D97-AF65-F5344CB8AC3E}">
        <p14:creationId xmlns:p14="http://schemas.microsoft.com/office/powerpoint/2010/main" val="847102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7A020F-5636-800E-37C4-5CAA05EE34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DD6F60-8AC7-166F-49B8-FCB557EE9A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7E46D0-577D-6D66-9375-FA4DE976B8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DAEBA7-6A3D-FC42-8371-81A58F901F36}" type="datetimeFigureOut">
              <a:rPr lang="en-US" smtClean="0"/>
              <a:t>11/7/25</a:t>
            </a:fld>
            <a:endParaRPr lang="en-US"/>
          </a:p>
        </p:txBody>
      </p:sp>
      <p:sp>
        <p:nvSpPr>
          <p:cNvPr id="5" name="Footer Placeholder 4">
            <a:extLst>
              <a:ext uri="{FF2B5EF4-FFF2-40B4-BE49-F238E27FC236}">
                <a16:creationId xmlns:a16="http://schemas.microsoft.com/office/drawing/2014/main" id="{AB24EE6B-AC37-E614-74E1-69E263F037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CF3697A-1470-EBCD-9F7D-BC67AFE690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28ADF9-5D2B-A64F-B77F-F163CFB5DAF5}" type="slidenum">
              <a:rPr lang="en-US" smtClean="0"/>
              <a:t>‹#›</a:t>
            </a:fld>
            <a:endParaRPr lang="en-US"/>
          </a:p>
        </p:txBody>
      </p:sp>
    </p:spTree>
    <p:extLst>
      <p:ext uri="{BB962C8B-B14F-4D97-AF65-F5344CB8AC3E}">
        <p14:creationId xmlns:p14="http://schemas.microsoft.com/office/powerpoint/2010/main" val="7413858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533D5-D541-F9B4-AC3B-8C607FBD10D8}"/>
              </a:ext>
            </a:extLst>
          </p:cNvPr>
          <p:cNvSpPr>
            <a:spLocks noGrp="1"/>
          </p:cNvSpPr>
          <p:nvPr>
            <p:ph type="title"/>
          </p:nvPr>
        </p:nvSpPr>
        <p:spPr/>
        <p:txBody>
          <a:bodyPr/>
          <a:lstStyle/>
          <a:p>
            <a:r>
              <a:rPr lang="en-US" dirty="0"/>
              <a:t>Last assumption</a:t>
            </a:r>
          </a:p>
        </p:txBody>
      </p:sp>
      <p:sp>
        <p:nvSpPr>
          <p:cNvPr id="3" name="Content Placeholder 2">
            <a:extLst>
              <a:ext uri="{FF2B5EF4-FFF2-40B4-BE49-F238E27FC236}">
                <a16:creationId xmlns:a16="http://schemas.microsoft.com/office/drawing/2014/main" id="{1A0D2D70-7B79-70C8-9F8B-A7DF20DA7F08}"/>
              </a:ext>
            </a:extLst>
          </p:cNvPr>
          <p:cNvSpPr>
            <a:spLocks noGrp="1"/>
          </p:cNvSpPr>
          <p:nvPr>
            <p:ph idx="1"/>
          </p:nvPr>
        </p:nvSpPr>
        <p:spPr>
          <a:xfrm>
            <a:off x="838200" y="1825625"/>
            <a:ext cx="5521036" cy="4351338"/>
          </a:xfrm>
        </p:spPr>
        <p:txBody>
          <a:bodyPr>
            <a:normAutofit fontScale="92500" lnSpcReduction="20000"/>
          </a:bodyPr>
          <a:lstStyle/>
          <a:p>
            <a:r>
              <a:rPr lang="en-US" b="1" dirty="0"/>
              <a:t>Independence of observations</a:t>
            </a:r>
          </a:p>
          <a:p>
            <a:endParaRPr lang="en-US" dirty="0"/>
          </a:p>
          <a:p>
            <a:r>
              <a:rPr lang="en-US" dirty="0"/>
              <a:t>Longitudinal Data</a:t>
            </a:r>
          </a:p>
          <a:p>
            <a:pPr lvl="1"/>
            <a:r>
              <a:rPr lang="en-US" dirty="0"/>
              <a:t>Repeated measures on the same individuals over time</a:t>
            </a:r>
          </a:p>
          <a:p>
            <a:r>
              <a:rPr lang="en-US" dirty="0"/>
              <a:t>Hierarchical Data</a:t>
            </a:r>
          </a:p>
          <a:p>
            <a:pPr lvl="1"/>
            <a:r>
              <a:rPr lang="en-US" dirty="0"/>
              <a:t>Multiple levels </a:t>
            </a:r>
          </a:p>
          <a:p>
            <a:pPr lvl="1"/>
            <a:r>
              <a:rPr lang="en-US" dirty="0"/>
              <a:t>E.g., patients seen by different doctors </a:t>
            </a:r>
          </a:p>
          <a:p>
            <a:pPr lvl="1"/>
            <a:r>
              <a:rPr lang="en-US" dirty="0"/>
              <a:t>Solution: Aggregate – merge patient data per doctor (doctor’s are independent)</a:t>
            </a:r>
          </a:p>
          <a:p>
            <a:pPr lvl="1"/>
            <a:r>
              <a:rPr lang="en-US" dirty="0"/>
              <a:t>Solution: Analysis within the group (run six regressions for the six doctors)</a:t>
            </a:r>
          </a:p>
          <a:p>
            <a:pPr lvl="1"/>
            <a:r>
              <a:rPr lang="en-US" b="1" dirty="0">
                <a:highlight>
                  <a:srgbClr val="FFFF00"/>
                </a:highlight>
              </a:rPr>
              <a:t>Solution: Mixed Models</a:t>
            </a:r>
          </a:p>
        </p:txBody>
      </p:sp>
      <p:pic>
        <p:nvPicPr>
          <p:cNvPr id="7" name="Picture 6" descr="A group of black and white circles&#10;&#10;AI-generated content may be incorrect.">
            <a:extLst>
              <a:ext uri="{FF2B5EF4-FFF2-40B4-BE49-F238E27FC236}">
                <a16:creationId xmlns:a16="http://schemas.microsoft.com/office/drawing/2014/main" id="{7B528537-6353-375B-515F-D0B664F56DF8}"/>
              </a:ext>
            </a:extLst>
          </p:cNvPr>
          <p:cNvPicPr>
            <a:picLocks noChangeAspect="1"/>
          </p:cNvPicPr>
          <p:nvPr/>
        </p:nvPicPr>
        <p:blipFill>
          <a:blip r:embed="rId3"/>
          <a:srcRect l="3865" r="4749"/>
          <a:stretch>
            <a:fillRect/>
          </a:stretch>
        </p:blipFill>
        <p:spPr>
          <a:xfrm>
            <a:off x="6942886" y="1211792"/>
            <a:ext cx="4677230" cy="3342433"/>
          </a:xfrm>
          <a:prstGeom prst="rect">
            <a:avLst/>
          </a:prstGeom>
          <a:ln>
            <a:solidFill>
              <a:schemeClr val="tx1"/>
            </a:solidFill>
          </a:ln>
        </p:spPr>
      </p:pic>
      <p:sp>
        <p:nvSpPr>
          <p:cNvPr id="4" name="TextBox 3">
            <a:extLst>
              <a:ext uri="{FF2B5EF4-FFF2-40B4-BE49-F238E27FC236}">
                <a16:creationId xmlns:a16="http://schemas.microsoft.com/office/drawing/2014/main" id="{E170F1B1-1376-D131-1E45-EAFA7BD95132}"/>
              </a:ext>
            </a:extLst>
          </p:cNvPr>
          <p:cNvSpPr txBox="1"/>
          <p:nvPr/>
        </p:nvSpPr>
        <p:spPr>
          <a:xfrm>
            <a:off x="7439233" y="5139282"/>
            <a:ext cx="3684535" cy="523220"/>
          </a:xfrm>
          <a:prstGeom prst="rect">
            <a:avLst/>
          </a:prstGeom>
          <a:noFill/>
        </p:spPr>
        <p:txBody>
          <a:bodyPr wrap="none" rtlCol="0">
            <a:spAutoFit/>
          </a:bodyPr>
          <a:lstStyle/>
          <a:p>
            <a:r>
              <a:rPr lang="en-US" sz="2800" dirty="0"/>
              <a:t>Y ~ Fixed + (1|Random)</a:t>
            </a:r>
          </a:p>
        </p:txBody>
      </p:sp>
    </p:spTree>
    <p:extLst>
      <p:ext uri="{BB962C8B-B14F-4D97-AF65-F5344CB8AC3E}">
        <p14:creationId xmlns:p14="http://schemas.microsoft.com/office/powerpoint/2010/main" val="2055530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52586-40D1-C378-15E2-139E54F1EDD3}"/>
              </a:ext>
            </a:extLst>
          </p:cNvPr>
          <p:cNvSpPr>
            <a:spLocks noGrp="1"/>
          </p:cNvSpPr>
          <p:nvPr>
            <p:ph type="title"/>
          </p:nvPr>
        </p:nvSpPr>
        <p:spPr/>
        <p:txBody>
          <a:bodyPr/>
          <a:lstStyle/>
          <a:p>
            <a:r>
              <a:rPr lang="en-US" dirty="0"/>
              <a:t>Random effects</a:t>
            </a:r>
          </a:p>
        </p:txBody>
      </p:sp>
      <p:sp>
        <p:nvSpPr>
          <p:cNvPr id="3" name="Content Placeholder 2">
            <a:extLst>
              <a:ext uri="{FF2B5EF4-FFF2-40B4-BE49-F238E27FC236}">
                <a16:creationId xmlns:a16="http://schemas.microsoft.com/office/drawing/2014/main" id="{D85499F6-E1F6-5771-3309-67C740825AAF}"/>
              </a:ext>
            </a:extLst>
          </p:cNvPr>
          <p:cNvSpPr>
            <a:spLocks noGrp="1"/>
          </p:cNvSpPr>
          <p:nvPr>
            <p:ph idx="1"/>
          </p:nvPr>
        </p:nvSpPr>
        <p:spPr>
          <a:xfrm>
            <a:off x="838200" y="1377863"/>
            <a:ext cx="10515600" cy="5115012"/>
          </a:xfrm>
        </p:spPr>
        <p:txBody>
          <a:bodyPr>
            <a:normAutofit fontScale="92500" lnSpcReduction="20000"/>
          </a:bodyPr>
          <a:lstStyle/>
          <a:p>
            <a:r>
              <a:rPr lang="en-US" dirty="0"/>
              <a:t>Control for other sources of random variability in our data (random effects contribute to explaining *residual* variance) </a:t>
            </a:r>
          </a:p>
          <a:p>
            <a:r>
              <a:rPr lang="en-US" dirty="0"/>
              <a:t>Control for repeated measures and non-independence </a:t>
            </a:r>
          </a:p>
          <a:p>
            <a:r>
              <a:rPr lang="en-US" b="1" dirty="0"/>
              <a:t>Levels of a random effect are not representative</a:t>
            </a:r>
            <a:r>
              <a:rPr lang="en-US" dirty="0"/>
              <a:t>, instead they are a random sample from the larger population </a:t>
            </a:r>
          </a:p>
          <a:p>
            <a:pPr lvl="1"/>
            <a:r>
              <a:rPr lang="en-US" dirty="0"/>
              <a:t>E.g. Doctor as a random effect / grouping variable; they are a random sample of 6 doctors</a:t>
            </a:r>
          </a:p>
          <a:p>
            <a:pPr lvl="1"/>
            <a:r>
              <a:rPr lang="en-US" dirty="0"/>
              <a:t>E.g. Individual ID. Each individual is randomly selected for inclusion in the dataset </a:t>
            </a:r>
          </a:p>
          <a:p>
            <a:pPr lvl="1"/>
            <a:r>
              <a:rPr lang="en-US" dirty="0"/>
              <a:t>E.g., Day, Month, Year, Season, </a:t>
            </a:r>
            <a:r>
              <a:rPr lang="en-US" dirty="0" err="1"/>
              <a:t>PopulationID</a:t>
            </a:r>
            <a:r>
              <a:rPr lang="en-US" dirty="0"/>
              <a:t>, </a:t>
            </a:r>
            <a:r>
              <a:rPr lang="en-US" dirty="0" err="1"/>
              <a:t>GroupID</a:t>
            </a:r>
            <a:endParaRPr lang="en-US" dirty="0"/>
          </a:p>
          <a:p>
            <a:r>
              <a:rPr lang="en-US" dirty="0"/>
              <a:t>Generally variables not related to our hypothesis</a:t>
            </a:r>
          </a:p>
          <a:p>
            <a:r>
              <a:rPr lang="en-US" dirty="0"/>
              <a:t>Do not necessarily care about the specific parameters (e.g. how doctor A differs from B) </a:t>
            </a:r>
          </a:p>
          <a:p>
            <a:r>
              <a:rPr lang="en-US" dirty="0"/>
              <a:t>Categorial variables only! </a:t>
            </a:r>
          </a:p>
          <a:p>
            <a:r>
              <a:rPr lang="en-US" dirty="0"/>
              <a:t>Rule of thumb: At least </a:t>
            </a:r>
            <a:r>
              <a:rPr lang="en-US" b="1" dirty="0">
                <a:highlight>
                  <a:srgbClr val="FFFF00"/>
                </a:highlight>
              </a:rPr>
              <a:t>5</a:t>
            </a:r>
            <a:r>
              <a:rPr lang="en-US" b="1" dirty="0"/>
              <a:t> </a:t>
            </a:r>
            <a:r>
              <a:rPr lang="en-US" dirty="0"/>
              <a:t>different levels within the random variable</a:t>
            </a:r>
            <a:endParaRPr lang="en-US" b="1" dirty="0"/>
          </a:p>
          <a:p>
            <a:endParaRPr lang="en-US" dirty="0"/>
          </a:p>
        </p:txBody>
      </p:sp>
    </p:spTree>
    <p:extLst>
      <p:ext uri="{BB962C8B-B14F-4D97-AF65-F5344CB8AC3E}">
        <p14:creationId xmlns:p14="http://schemas.microsoft.com/office/powerpoint/2010/main" val="1544280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eneralized Linear Models (GLMs): The Supercharged Linear Regression">
            <a:extLst>
              <a:ext uri="{FF2B5EF4-FFF2-40B4-BE49-F238E27FC236}">
                <a16:creationId xmlns:a16="http://schemas.microsoft.com/office/drawing/2014/main" id="{49318584-40A2-549D-BDA5-FA1F960DA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502" y="0"/>
            <a:ext cx="9558337"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64FFDC39-3F7F-2F74-2049-B8D40CA5A7DE}"/>
              </a:ext>
            </a:extLst>
          </p:cNvPr>
          <p:cNvSpPr/>
          <p:nvPr/>
        </p:nvSpPr>
        <p:spPr>
          <a:xfrm>
            <a:off x="10160000" y="3614057"/>
            <a:ext cx="1756229" cy="725714"/>
          </a:xfrm>
          <a:prstGeom prst="rect">
            <a:avLst/>
          </a:prstGeom>
          <a:solidFill>
            <a:srgbClr val="17AAB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Beta Regression</a:t>
            </a:r>
          </a:p>
        </p:txBody>
      </p:sp>
      <p:sp>
        <p:nvSpPr>
          <p:cNvPr id="9" name="Rectangle 8">
            <a:extLst>
              <a:ext uri="{FF2B5EF4-FFF2-40B4-BE49-F238E27FC236}">
                <a16:creationId xmlns:a16="http://schemas.microsoft.com/office/drawing/2014/main" id="{604142AE-968C-FD1A-6218-60A738E2F4C5}"/>
              </a:ext>
            </a:extLst>
          </p:cNvPr>
          <p:cNvSpPr/>
          <p:nvPr/>
        </p:nvSpPr>
        <p:spPr>
          <a:xfrm>
            <a:off x="10055269" y="5827486"/>
            <a:ext cx="1756229" cy="725714"/>
          </a:xfrm>
          <a:prstGeom prst="rect">
            <a:avLst/>
          </a:prstGeom>
          <a:solidFill>
            <a:srgbClr val="FFB36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Beta Distribution</a:t>
            </a:r>
          </a:p>
        </p:txBody>
      </p:sp>
      <p:cxnSp>
        <p:nvCxnSpPr>
          <p:cNvPr id="11" name="Straight Arrow Connector 10">
            <a:extLst>
              <a:ext uri="{FF2B5EF4-FFF2-40B4-BE49-F238E27FC236}">
                <a16:creationId xmlns:a16="http://schemas.microsoft.com/office/drawing/2014/main" id="{35FABCC0-8F11-0E9F-253D-4435286000E7}"/>
              </a:ext>
            </a:extLst>
          </p:cNvPr>
          <p:cNvCxnSpPr>
            <a:cxnSpLocks/>
          </p:cNvCxnSpPr>
          <p:nvPr/>
        </p:nvCxnSpPr>
        <p:spPr>
          <a:xfrm>
            <a:off x="11001829" y="2322285"/>
            <a:ext cx="0" cy="1164771"/>
          </a:xfrm>
          <a:prstGeom prst="straightConnector1">
            <a:avLst/>
          </a:prstGeom>
          <a:ln w="79375">
            <a:tailEnd type="triangle"/>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F63C88E-8B9D-0B92-C2CF-008084B31FE9}"/>
              </a:ext>
            </a:extLst>
          </p:cNvPr>
          <p:cNvCxnSpPr/>
          <p:nvPr/>
        </p:nvCxnSpPr>
        <p:spPr>
          <a:xfrm>
            <a:off x="8940800" y="2322285"/>
            <a:ext cx="2061029" cy="0"/>
          </a:xfrm>
          <a:prstGeom prst="line">
            <a:avLst/>
          </a:prstGeom>
          <a:ln w="79375"/>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D71A3B6-EBF8-2BD9-E088-9A33F9895A85}"/>
              </a:ext>
            </a:extLst>
          </p:cNvPr>
          <p:cNvCxnSpPr/>
          <p:nvPr/>
        </p:nvCxnSpPr>
        <p:spPr>
          <a:xfrm>
            <a:off x="11001829" y="4615543"/>
            <a:ext cx="0" cy="10450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2157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4DF27-FA1D-4D5B-6B7C-8E6DFEDE547C}"/>
              </a:ext>
            </a:extLst>
          </p:cNvPr>
          <p:cNvSpPr>
            <a:spLocks noGrp="1"/>
          </p:cNvSpPr>
          <p:nvPr>
            <p:ph type="title"/>
          </p:nvPr>
        </p:nvSpPr>
        <p:spPr/>
        <p:txBody>
          <a:bodyPr/>
          <a:lstStyle/>
          <a:p>
            <a:r>
              <a:rPr lang="en-US" dirty="0"/>
              <a:t>Poisson Regression – Count Data</a:t>
            </a:r>
          </a:p>
        </p:txBody>
      </p:sp>
      <p:sp>
        <p:nvSpPr>
          <p:cNvPr id="5" name="Content Placeholder 4">
            <a:extLst>
              <a:ext uri="{FF2B5EF4-FFF2-40B4-BE49-F238E27FC236}">
                <a16:creationId xmlns:a16="http://schemas.microsoft.com/office/drawing/2014/main" id="{93F9C884-C08B-8009-2A6F-252E04E7D915}"/>
              </a:ext>
            </a:extLst>
          </p:cNvPr>
          <p:cNvSpPr>
            <a:spLocks noGrp="1"/>
          </p:cNvSpPr>
          <p:nvPr>
            <p:ph sz="half" idx="2"/>
          </p:nvPr>
        </p:nvSpPr>
        <p:spPr/>
        <p:txBody>
          <a:bodyPr>
            <a:normAutofit/>
          </a:bodyPr>
          <a:lstStyle/>
          <a:p>
            <a:r>
              <a:rPr lang="en-US" u="sng" dirty="0"/>
              <a:t>Link function</a:t>
            </a:r>
            <a:r>
              <a:rPr lang="en-US" dirty="0"/>
              <a:t>: </a:t>
            </a:r>
            <a:br>
              <a:rPr lang="en-US" dirty="0"/>
            </a:br>
            <a:r>
              <a:rPr lang="en-US" dirty="0"/>
              <a:t>log link</a:t>
            </a:r>
          </a:p>
          <a:p>
            <a:r>
              <a:rPr lang="en-US" u="sng" dirty="0"/>
              <a:t>Response distribution</a:t>
            </a:r>
            <a:r>
              <a:rPr lang="en-US" dirty="0"/>
              <a:t>: </a:t>
            </a:r>
            <a:br>
              <a:rPr lang="en-US" dirty="0"/>
            </a:br>
            <a:r>
              <a:rPr lang="en-US" dirty="0"/>
              <a:t>Poisson</a:t>
            </a:r>
          </a:p>
          <a:p>
            <a:r>
              <a:rPr lang="en-US" u="sng" dirty="0"/>
              <a:t>Variance structure</a:t>
            </a:r>
            <a:r>
              <a:rPr lang="en-US" dirty="0"/>
              <a:t>: </a:t>
            </a:r>
            <a:br>
              <a:rPr lang="en-US" dirty="0"/>
            </a:br>
            <a:r>
              <a:rPr lang="en-US" dirty="0"/>
              <a:t>Var(Y) = Mean(Y)</a:t>
            </a:r>
          </a:p>
          <a:p>
            <a:r>
              <a:rPr lang="en-US" u="sng" dirty="0"/>
              <a:t>Checking model fit</a:t>
            </a:r>
            <a:r>
              <a:rPr lang="en-US" dirty="0"/>
              <a:t>: </a:t>
            </a:r>
          </a:p>
          <a:p>
            <a:pPr lvl="1"/>
            <a:r>
              <a:rPr lang="en-US" dirty="0"/>
              <a:t>Uniformity (Residuals)</a:t>
            </a:r>
          </a:p>
          <a:p>
            <a:pPr lvl="1"/>
            <a:r>
              <a:rPr lang="en-US" dirty="0"/>
              <a:t>Overdispersion: Var(Y) &gt; Mean(Y)</a:t>
            </a:r>
          </a:p>
          <a:p>
            <a:pPr lvl="1"/>
            <a:r>
              <a:rPr lang="en-US" dirty="0"/>
              <a:t>Zero-inflation: too many zeros</a:t>
            </a:r>
          </a:p>
        </p:txBody>
      </p:sp>
      <p:pic>
        <p:nvPicPr>
          <p:cNvPr id="2050" name="Picture 2" descr="Poisson Distribution : Meaning, Characteristics, Shape, Mean and Variance -  GeeksforGeeks">
            <a:extLst>
              <a:ext uri="{FF2B5EF4-FFF2-40B4-BE49-F238E27FC236}">
                <a16:creationId xmlns:a16="http://schemas.microsoft.com/office/drawing/2014/main" id="{34D3E000-8205-1301-38B9-F6DF33827D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543" y="1835831"/>
            <a:ext cx="5558503" cy="4226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6716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3AC9-F25C-9296-D10F-E679A09EB6CC}"/>
              </a:ext>
            </a:extLst>
          </p:cNvPr>
          <p:cNvSpPr>
            <a:spLocks noGrp="1"/>
          </p:cNvSpPr>
          <p:nvPr>
            <p:ph type="title"/>
          </p:nvPr>
        </p:nvSpPr>
        <p:spPr/>
        <p:txBody>
          <a:bodyPr/>
          <a:lstStyle/>
          <a:p>
            <a:r>
              <a:rPr lang="en-US" dirty="0"/>
              <a:t>Binomial Regression</a:t>
            </a:r>
          </a:p>
        </p:txBody>
      </p:sp>
      <p:sp>
        <p:nvSpPr>
          <p:cNvPr id="3" name="Content Placeholder 2">
            <a:extLst>
              <a:ext uri="{FF2B5EF4-FFF2-40B4-BE49-F238E27FC236}">
                <a16:creationId xmlns:a16="http://schemas.microsoft.com/office/drawing/2014/main" id="{21B1FDFB-0D52-32C1-BD21-AEECA7698F0C}"/>
              </a:ext>
            </a:extLst>
          </p:cNvPr>
          <p:cNvSpPr>
            <a:spLocks noGrp="1"/>
          </p:cNvSpPr>
          <p:nvPr>
            <p:ph sz="half" idx="1"/>
          </p:nvPr>
        </p:nvSpPr>
        <p:spPr/>
        <p:txBody>
          <a:bodyPr>
            <a:normAutofit fontScale="92500"/>
          </a:bodyPr>
          <a:lstStyle/>
          <a:p>
            <a:r>
              <a:rPr lang="en-US" dirty="0"/>
              <a:t>Bernoulli – 0/1</a:t>
            </a:r>
          </a:p>
          <a:p>
            <a:r>
              <a:rPr lang="en-US" dirty="0"/>
              <a:t>(S ~ A + B, family=binomial)</a:t>
            </a:r>
          </a:p>
          <a:p>
            <a:r>
              <a:rPr lang="en-US" u="sng" dirty="0"/>
              <a:t>Link</a:t>
            </a:r>
            <a:r>
              <a:rPr lang="en-US" dirty="0"/>
              <a:t>: logit</a:t>
            </a:r>
          </a:p>
          <a:p>
            <a:r>
              <a:rPr lang="en-US" u="sng" dirty="0"/>
              <a:t>Response distribution</a:t>
            </a:r>
            <a:r>
              <a:rPr lang="en-US" dirty="0"/>
              <a:t>: Binomial </a:t>
            </a:r>
          </a:p>
          <a:p>
            <a:r>
              <a:rPr lang="en-US" u="sng" dirty="0"/>
              <a:t>Variance structure</a:t>
            </a:r>
            <a:r>
              <a:rPr lang="en-US" dirty="0"/>
              <a:t>: </a:t>
            </a:r>
            <a:br>
              <a:rPr lang="en-US" dirty="0"/>
            </a:br>
            <a:r>
              <a:rPr lang="en-US" dirty="0"/>
              <a:t>p(1-p)</a:t>
            </a:r>
          </a:p>
          <a:p>
            <a:r>
              <a:rPr lang="en-US" u="sng" dirty="0"/>
              <a:t>Checking model fit</a:t>
            </a:r>
            <a:r>
              <a:rPr lang="en-US" dirty="0"/>
              <a:t>: </a:t>
            </a:r>
          </a:p>
          <a:p>
            <a:pPr lvl="1"/>
            <a:r>
              <a:rPr lang="en-US" dirty="0"/>
              <a:t>Uniformity (Residuals)</a:t>
            </a:r>
          </a:p>
          <a:p>
            <a:pPr marL="457200" lvl="1" indent="0">
              <a:buNone/>
            </a:pPr>
            <a:endParaRPr lang="en-US" dirty="0"/>
          </a:p>
          <a:p>
            <a:endParaRPr lang="en-US" u="sng" dirty="0"/>
          </a:p>
          <a:p>
            <a:endParaRPr lang="en-US" dirty="0"/>
          </a:p>
        </p:txBody>
      </p:sp>
      <p:sp>
        <p:nvSpPr>
          <p:cNvPr id="4" name="Content Placeholder 3">
            <a:extLst>
              <a:ext uri="{FF2B5EF4-FFF2-40B4-BE49-F238E27FC236}">
                <a16:creationId xmlns:a16="http://schemas.microsoft.com/office/drawing/2014/main" id="{ADBE9CA8-0742-ACB5-A68E-8D72B224BA60}"/>
              </a:ext>
            </a:extLst>
          </p:cNvPr>
          <p:cNvSpPr>
            <a:spLocks noGrp="1"/>
          </p:cNvSpPr>
          <p:nvPr>
            <p:ph sz="half" idx="2"/>
          </p:nvPr>
        </p:nvSpPr>
        <p:spPr>
          <a:xfrm>
            <a:off x="5600700" y="1825625"/>
            <a:ext cx="6400800" cy="4351338"/>
          </a:xfrm>
        </p:spPr>
        <p:txBody>
          <a:bodyPr>
            <a:normAutofit fontScale="92500"/>
          </a:bodyPr>
          <a:lstStyle/>
          <a:p>
            <a:r>
              <a:rPr lang="en-US" dirty="0"/>
              <a:t>Binary (# success / # of failures)</a:t>
            </a:r>
          </a:p>
          <a:p>
            <a:r>
              <a:rPr lang="en-US" sz="2400" dirty="0"/>
              <a:t>(</a:t>
            </a:r>
            <a:r>
              <a:rPr lang="en-US" sz="2400" dirty="0" err="1"/>
              <a:t>cbind</a:t>
            </a:r>
            <a:r>
              <a:rPr lang="en-US" sz="2400" dirty="0"/>
              <a:t>(</a:t>
            </a:r>
            <a:r>
              <a:rPr lang="en-US" sz="2400" dirty="0" err="1"/>
              <a:t>countS</a:t>
            </a:r>
            <a:r>
              <a:rPr lang="en-US" sz="2400" dirty="0"/>
              <a:t>, </a:t>
            </a:r>
            <a:r>
              <a:rPr lang="en-US" sz="2400" dirty="0" err="1"/>
              <a:t>countF</a:t>
            </a:r>
            <a:r>
              <a:rPr lang="en-US" sz="2400" dirty="0"/>
              <a:t>) ~ A + B, family=binomial)</a:t>
            </a:r>
          </a:p>
          <a:p>
            <a:r>
              <a:rPr lang="en-US" u="sng" dirty="0"/>
              <a:t>Link</a:t>
            </a:r>
            <a:r>
              <a:rPr lang="en-US" dirty="0"/>
              <a:t>: logit</a:t>
            </a:r>
          </a:p>
          <a:p>
            <a:r>
              <a:rPr lang="en-US" u="sng" dirty="0"/>
              <a:t>Response distribution</a:t>
            </a:r>
            <a:r>
              <a:rPr lang="en-US" dirty="0"/>
              <a:t>: Binomial </a:t>
            </a:r>
          </a:p>
          <a:p>
            <a:r>
              <a:rPr lang="en-US" u="sng" dirty="0"/>
              <a:t>Variance structure</a:t>
            </a:r>
            <a:r>
              <a:rPr lang="en-US" dirty="0"/>
              <a:t>: </a:t>
            </a:r>
            <a:br>
              <a:rPr lang="en-US" dirty="0"/>
            </a:br>
            <a:r>
              <a:rPr lang="en-US" dirty="0"/>
              <a:t>np(1-p)</a:t>
            </a:r>
          </a:p>
          <a:p>
            <a:r>
              <a:rPr lang="en-US" u="sng" dirty="0"/>
              <a:t>Checking model fit</a:t>
            </a:r>
            <a:r>
              <a:rPr lang="en-US" dirty="0"/>
              <a:t>: </a:t>
            </a:r>
          </a:p>
          <a:p>
            <a:pPr lvl="1"/>
            <a:r>
              <a:rPr lang="en-US" dirty="0"/>
              <a:t>Uniformity (Residuals)</a:t>
            </a:r>
          </a:p>
          <a:p>
            <a:pPr lvl="1"/>
            <a:r>
              <a:rPr lang="en-US" dirty="0"/>
              <a:t>Overdispersion</a:t>
            </a:r>
          </a:p>
          <a:p>
            <a:pPr lvl="1"/>
            <a:r>
              <a:rPr lang="en-US" dirty="0"/>
              <a:t>Zero-Inflation</a:t>
            </a:r>
          </a:p>
          <a:p>
            <a:endParaRPr lang="en-US" u="sng" dirty="0"/>
          </a:p>
          <a:p>
            <a:endParaRPr lang="en-US" dirty="0"/>
          </a:p>
        </p:txBody>
      </p:sp>
    </p:spTree>
    <p:extLst>
      <p:ext uri="{BB962C8B-B14F-4D97-AF65-F5344CB8AC3E}">
        <p14:creationId xmlns:p14="http://schemas.microsoft.com/office/powerpoint/2010/main" val="773938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1995-9904-8ADE-3C70-12DDF8B73117}"/>
              </a:ext>
            </a:extLst>
          </p:cNvPr>
          <p:cNvSpPr>
            <a:spLocks noGrp="1"/>
          </p:cNvSpPr>
          <p:nvPr>
            <p:ph type="title"/>
          </p:nvPr>
        </p:nvSpPr>
        <p:spPr/>
        <p:txBody>
          <a:bodyPr/>
          <a:lstStyle/>
          <a:p>
            <a:r>
              <a:rPr lang="en-US" dirty="0"/>
              <a:t>Beta Regression: Proportion data</a:t>
            </a:r>
          </a:p>
        </p:txBody>
      </p:sp>
      <p:sp>
        <p:nvSpPr>
          <p:cNvPr id="4" name="Content Placeholder 3">
            <a:extLst>
              <a:ext uri="{FF2B5EF4-FFF2-40B4-BE49-F238E27FC236}">
                <a16:creationId xmlns:a16="http://schemas.microsoft.com/office/drawing/2014/main" id="{91C72D0E-6226-B53F-017A-BB68A9508962}"/>
              </a:ext>
            </a:extLst>
          </p:cNvPr>
          <p:cNvSpPr>
            <a:spLocks noGrp="1"/>
          </p:cNvSpPr>
          <p:nvPr>
            <p:ph sz="half" idx="2"/>
          </p:nvPr>
        </p:nvSpPr>
        <p:spPr/>
        <p:txBody>
          <a:bodyPr/>
          <a:lstStyle/>
          <a:p>
            <a:r>
              <a:rPr lang="en-US" u="sng" dirty="0"/>
              <a:t>Link function</a:t>
            </a:r>
            <a:r>
              <a:rPr lang="en-US" dirty="0"/>
              <a:t>: </a:t>
            </a:r>
            <a:br>
              <a:rPr lang="en-US" dirty="0"/>
            </a:br>
            <a:r>
              <a:rPr lang="en-US" dirty="0"/>
              <a:t>logit</a:t>
            </a:r>
          </a:p>
          <a:p>
            <a:r>
              <a:rPr lang="en-US" u="sng" dirty="0"/>
              <a:t>Response distribution</a:t>
            </a:r>
            <a:r>
              <a:rPr lang="en-US" dirty="0"/>
              <a:t>: </a:t>
            </a:r>
            <a:br>
              <a:rPr lang="en-US" dirty="0"/>
            </a:br>
            <a:r>
              <a:rPr lang="en-US" dirty="0"/>
              <a:t>Beta</a:t>
            </a:r>
          </a:p>
          <a:p>
            <a:r>
              <a:rPr lang="en-US" u="sng" dirty="0"/>
              <a:t>Variance structure</a:t>
            </a:r>
            <a:r>
              <a:rPr lang="en-US" dirty="0"/>
              <a:t>: </a:t>
            </a:r>
            <a:br>
              <a:rPr lang="en-US" dirty="0"/>
            </a:br>
            <a:r>
              <a:rPr lang="en-US" dirty="0"/>
              <a:t>Var(Y)=</a:t>
            </a:r>
            <a:r>
              <a:rPr lang="el-GR" dirty="0"/>
              <a:t>μ(1−μ)​</a:t>
            </a:r>
            <a:r>
              <a:rPr lang="en-US" dirty="0"/>
              <a:t> / 1+</a:t>
            </a:r>
            <a:r>
              <a:rPr lang="el-GR" dirty="0" err="1"/>
              <a:t>ϕ</a:t>
            </a:r>
            <a:endParaRPr lang="en-US" dirty="0"/>
          </a:p>
          <a:p>
            <a:r>
              <a:rPr lang="en-US" u="sng" dirty="0"/>
              <a:t>Checking model fit</a:t>
            </a:r>
            <a:r>
              <a:rPr lang="en-US" dirty="0"/>
              <a:t>: </a:t>
            </a:r>
          </a:p>
          <a:p>
            <a:pPr lvl="1"/>
            <a:r>
              <a:rPr lang="en-US" dirty="0"/>
              <a:t>Uniformity (Residuals)</a:t>
            </a:r>
          </a:p>
          <a:p>
            <a:pPr lvl="1"/>
            <a:r>
              <a:rPr lang="en-US" dirty="0"/>
              <a:t>Variance structure (Residuals)</a:t>
            </a:r>
          </a:p>
          <a:p>
            <a:pPr lvl="1"/>
            <a:r>
              <a:rPr lang="en-US" dirty="0"/>
              <a:t>Zero-inflation: too many zeros</a:t>
            </a:r>
          </a:p>
          <a:p>
            <a:endParaRPr lang="en-US" dirty="0"/>
          </a:p>
        </p:txBody>
      </p:sp>
      <p:pic>
        <p:nvPicPr>
          <p:cNvPr id="1026" name="Picture 2" descr="generalized linear model - Why exactly can't beta regression deal with 0s  and 1s in the response variable? - Cross Validated">
            <a:extLst>
              <a:ext uri="{FF2B5EF4-FFF2-40B4-BE49-F238E27FC236}">
                <a16:creationId xmlns:a16="http://schemas.microsoft.com/office/drawing/2014/main" id="{00DAAECD-F0C2-FDC7-5AF8-133E770B9A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87" y="1690687"/>
            <a:ext cx="5607844" cy="448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05527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4409</TotalTime>
  <Words>672</Words>
  <Application>Microsoft Macintosh PowerPoint</Application>
  <PresentationFormat>Widescreen</PresentationFormat>
  <Paragraphs>74</Paragraphs>
  <Slides>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Last assumption</vt:lpstr>
      <vt:lpstr>Random effects</vt:lpstr>
      <vt:lpstr>PowerPoint Presentation</vt:lpstr>
      <vt:lpstr>Poisson Regression – Count Data</vt:lpstr>
      <vt:lpstr>Binomial Regression</vt:lpstr>
      <vt:lpstr>Beta Regression: Proportion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Lily Johnson-Ulrich</dc:creator>
  <cp:lastModifiedBy>Lily Johnson-Ulrich</cp:lastModifiedBy>
  <cp:revision>9</cp:revision>
  <dcterms:created xsi:type="dcterms:W3CDTF">2025-11-06T21:23:15Z</dcterms:created>
  <dcterms:modified xsi:type="dcterms:W3CDTF">2025-11-10T15:59:29Z</dcterms:modified>
</cp:coreProperties>
</file>